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10.jpg" ContentType="image/jpeg"/>
  <Override PartName="/ppt/media/image12.jpg" ContentType="image/jpeg"/>
  <Override PartName="/ppt/media/image13.jpg" ContentType="image/jpeg"/>
  <Override PartName="/ppt/media/image16.jpg" ContentType="image/jpeg"/>
  <Override PartName="/ppt/media/image18.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4" r:id="rId18"/>
    <p:sldId id="275" r:id="rId19"/>
    <p:sldId id="279" r:id="rId20"/>
    <p:sldId id="280" r:id="rId21"/>
    <p:sldId id="277" r:id="rId22"/>
    <p:sldId id="278" r:id="rId23"/>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37" autoAdjust="0"/>
    <p:restoredTop sz="94660"/>
  </p:normalViewPr>
  <p:slideViewPr>
    <p:cSldViewPr>
      <p:cViewPr varScale="1">
        <p:scale>
          <a:sx n="59" d="100"/>
          <a:sy n="59" d="100"/>
        </p:scale>
        <p:origin x="1428"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2800" b="1" i="0">
                <a:solidFill>
                  <a:srgbClr val="6F2FA0"/>
                </a:solidFill>
                <a:latin typeface="Arial"/>
                <a:cs typeface="Aria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2/6/2026</a:t>
            </a:fld>
            <a:endParaRPr lang="en-US"/>
          </a:p>
        </p:txBody>
      </p:sp>
      <p:sp>
        <p:nvSpPr>
          <p:cNvPr id="6" name="Holder 6"/>
          <p:cNvSpPr>
            <a:spLocks noGrp="1"/>
          </p:cNvSpPr>
          <p:nvPr>
            <p:ph type="sldNum" sz="quarter" idx="7"/>
          </p:nvPr>
        </p:nvSpPr>
        <p:spPr/>
        <p:txBody>
          <a:bodyPr lIns="0" tIns="0" rIns="0" bIns="0"/>
          <a:lstStyle>
            <a:lvl1pPr>
              <a:defRPr sz="1200" b="0" i="0">
                <a:solidFill>
                  <a:srgbClr val="898989"/>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6F2FA0"/>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2/6/2026</a:t>
            </a:fld>
            <a:endParaRPr lang="en-US"/>
          </a:p>
        </p:txBody>
      </p:sp>
      <p:sp>
        <p:nvSpPr>
          <p:cNvPr id="6" name="Holder 6"/>
          <p:cNvSpPr>
            <a:spLocks noGrp="1"/>
          </p:cNvSpPr>
          <p:nvPr>
            <p:ph type="sldNum" sz="quarter" idx="7"/>
          </p:nvPr>
        </p:nvSpPr>
        <p:spPr/>
        <p:txBody>
          <a:bodyPr lIns="0" tIns="0" rIns="0" bIns="0"/>
          <a:lstStyle>
            <a:lvl1pPr>
              <a:defRPr sz="1200" b="0" i="0">
                <a:solidFill>
                  <a:srgbClr val="898989"/>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6F2FA0"/>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2/6/2026</a:t>
            </a:fld>
            <a:endParaRPr lang="en-US"/>
          </a:p>
        </p:txBody>
      </p:sp>
      <p:sp>
        <p:nvSpPr>
          <p:cNvPr id="7" name="Holder 7"/>
          <p:cNvSpPr>
            <a:spLocks noGrp="1"/>
          </p:cNvSpPr>
          <p:nvPr>
            <p:ph type="sldNum" sz="quarter" idx="7"/>
          </p:nvPr>
        </p:nvSpPr>
        <p:spPr/>
        <p:txBody>
          <a:bodyPr lIns="0" tIns="0" rIns="0" bIns="0"/>
          <a:lstStyle>
            <a:lvl1pPr>
              <a:defRPr sz="1200" b="0" i="0">
                <a:solidFill>
                  <a:srgbClr val="898989"/>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6F2FA0"/>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2/6/2026</a:t>
            </a:fld>
            <a:endParaRPr lang="en-US"/>
          </a:p>
        </p:txBody>
      </p:sp>
      <p:sp>
        <p:nvSpPr>
          <p:cNvPr id="5" name="Holder 5"/>
          <p:cNvSpPr>
            <a:spLocks noGrp="1"/>
          </p:cNvSpPr>
          <p:nvPr>
            <p:ph type="sldNum" sz="quarter" idx="7"/>
          </p:nvPr>
        </p:nvSpPr>
        <p:spPr/>
        <p:txBody>
          <a:bodyPr lIns="0" tIns="0" rIns="0" bIns="0"/>
          <a:lstStyle>
            <a:lvl1pPr>
              <a:defRPr sz="1200" b="0" i="0">
                <a:solidFill>
                  <a:srgbClr val="898989"/>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2/6/2026</a:t>
            </a:fld>
            <a:endParaRPr lang="en-US"/>
          </a:p>
        </p:txBody>
      </p:sp>
      <p:sp>
        <p:nvSpPr>
          <p:cNvPr id="4" name="Holder 4"/>
          <p:cNvSpPr>
            <a:spLocks noGrp="1"/>
          </p:cNvSpPr>
          <p:nvPr>
            <p:ph type="sldNum" sz="quarter" idx="7"/>
          </p:nvPr>
        </p:nvSpPr>
        <p:spPr/>
        <p:txBody>
          <a:bodyPr lIns="0" tIns="0" rIns="0" bIns="0"/>
          <a:lstStyle>
            <a:lvl1pPr>
              <a:defRPr sz="1200" b="0" i="0">
                <a:solidFill>
                  <a:srgbClr val="898989"/>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4000" cy="6858000"/>
          </a:xfrm>
          <a:prstGeom prst="rect">
            <a:avLst/>
          </a:prstGeom>
        </p:spPr>
      </p:pic>
      <p:sp>
        <p:nvSpPr>
          <p:cNvPr id="2" name="Holder 2"/>
          <p:cNvSpPr>
            <a:spLocks noGrp="1"/>
          </p:cNvSpPr>
          <p:nvPr>
            <p:ph type="title"/>
          </p:nvPr>
        </p:nvSpPr>
        <p:spPr>
          <a:xfrm>
            <a:off x="793099" y="367506"/>
            <a:ext cx="7557800" cy="905351"/>
          </a:xfrm>
          <a:prstGeom prst="rect">
            <a:avLst/>
          </a:prstGeom>
        </p:spPr>
        <p:txBody>
          <a:bodyPr wrap="square" lIns="0" tIns="0" rIns="0" bIns="0">
            <a:spAutoFit/>
          </a:bodyPr>
          <a:lstStyle>
            <a:lvl1pPr>
              <a:defRPr sz="2800" b="1" i="0">
                <a:solidFill>
                  <a:srgbClr val="6F2FA0"/>
                </a:solidFill>
                <a:latin typeface="Arial"/>
                <a:cs typeface="Arial"/>
              </a:defRPr>
            </a:lvl1pPr>
          </a:lstStyle>
          <a:p>
            <a:endParaRPr/>
          </a:p>
        </p:txBody>
      </p:sp>
      <p:sp>
        <p:nvSpPr>
          <p:cNvPr id="3" name="Holder 3"/>
          <p:cNvSpPr>
            <a:spLocks noGrp="1"/>
          </p:cNvSpPr>
          <p:nvPr>
            <p:ph type="body" idx="1"/>
          </p:nvPr>
        </p:nvSpPr>
        <p:spPr>
          <a:xfrm>
            <a:off x="495300" y="1635125"/>
            <a:ext cx="7793355" cy="297942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2/6/2026</a:t>
            </a:fld>
            <a:endParaRPr lang="en-US"/>
          </a:p>
        </p:txBody>
      </p:sp>
      <p:sp>
        <p:nvSpPr>
          <p:cNvPr id="6" name="Holder 6"/>
          <p:cNvSpPr>
            <a:spLocks noGrp="1"/>
          </p:cNvSpPr>
          <p:nvPr>
            <p:ph type="sldNum" sz="quarter" idx="7"/>
          </p:nvPr>
        </p:nvSpPr>
        <p:spPr>
          <a:xfrm>
            <a:off x="8413099" y="6464300"/>
            <a:ext cx="218440" cy="177800"/>
          </a:xfrm>
          <a:prstGeom prst="rect">
            <a:avLst/>
          </a:prstGeom>
        </p:spPr>
        <p:txBody>
          <a:bodyPr wrap="square" lIns="0" tIns="0" rIns="0" bIns="0">
            <a:spAutoFit/>
          </a:bodyPr>
          <a:lstStyle>
            <a:lvl1pPr>
              <a:defRPr sz="1200" b="0" i="0">
                <a:solidFill>
                  <a:srgbClr val="898989"/>
                </a:solidFill>
                <a:latin typeface="Calibri"/>
                <a:cs typeface="Calibri"/>
              </a:defRPr>
            </a:lvl1pPr>
          </a:lstStyle>
          <a:p>
            <a:pPr marL="12700">
              <a:lnSpc>
                <a:spcPts val="124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5.xml"/><Relationship Id="rId6" Type="http://schemas.openxmlformats.org/officeDocument/2006/relationships/hyperlink" Target="http://www.srec.ac.in/" TargetMode="Externa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g"/><Relationship Id="rId1" Type="http://schemas.openxmlformats.org/officeDocument/2006/relationships/slideLayout" Target="../slideLayouts/slideLayout4.xml"/><Relationship Id="rId4" Type="http://schemas.openxmlformats.org/officeDocument/2006/relationships/image" Target="../media/image18.jpg"/></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78923" y="1956699"/>
            <a:ext cx="7570395" cy="3785011"/>
          </a:xfrm>
          <a:prstGeom prst="rect">
            <a:avLst/>
          </a:prstGeom>
        </p:spPr>
        <p:txBody>
          <a:bodyPr vert="horz" wrap="square" lIns="0" tIns="161925" rIns="0" bIns="0" rtlCol="0">
            <a:spAutoFit/>
          </a:bodyPr>
          <a:lstStyle/>
          <a:p>
            <a:pPr marL="1905" algn="ctr">
              <a:lnSpc>
                <a:spcPct val="100000"/>
              </a:lnSpc>
              <a:spcBef>
                <a:spcPts val="1275"/>
              </a:spcBef>
            </a:pPr>
            <a:r>
              <a:rPr lang="en-US" sz="2400" b="1" dirty="0">
                <a:solidFill>
                  <a:schemeClr val="accent2">
                    <a:lumMod val="75000"/>
                  </a:schemeClr>
                </a:solidFill>
              </a:rPr>
              <a:t>20CS295</a:t>
            </a:r>
            <a:r>
              <a:rPr sz="2400" b="1" spc="-20" dirty="0">
                <a:solidFill>
                  <a:srgbClr val="943733"/>
                </a:solidFill>
                <a:latin typeface="Calibri"/>
                <a:cs typeface="Calibri"/>
              </a:rPr>
              <a:t> </a:t>
            </a:r>
            <a:r>
              <a:rPr sz="2400" b="1" dirty="0">
                <a:solidFill>
                  <a:srgbClr val="943733"/>
                </a:solidFill>
                <a:latin typeface="Calibri"/>
                <a:cs typeface="Calibri"/>
              </a:rPr>
              <a:t>–</a:t>
            </a:r>
            <a:r>
              <a:rPr sz="2400" b="1" spc="-20" dirty="0">
                <a:solidFill>
                  <a:srgbClr val="943733"/>
                </a:solidFill>
                <a:latin typeface="Calibri"/>
                <a:cs typeface="Calibri"/>
              </a:rPr>
              <a:t> </a:t>
            </a:r>
            <a:r>
              <a:rPr sz="2400" b="1" dirty="0">
                <a:solidFill>
                  <a:srgbClr val="943733"/>
                </a:solidFill>
                <a:latin typeface="Calibri"/>
                <a:cs typeface="Calibri"/>
              </a:rPr>
              <a:t>Mini</a:t>
            </a:r>
            <a:r>
              <a:rPr sz="2400" b="1" spc="-20" dirty="0">
                <a:solidFill>
                  <a:srgbClr val="943733"/>
                </a:solidFill>
                <a:latin typeface="Calibri"/>
                <a:cs typeface="Calibri"/>
              </a:rPr>
              <a:t> </a:t>
            </a:r>
            <a:r>
              <a:rPr sz="2400" b="1" dirty="0">
                <a:solidFill>
                  <a:srgbClr val="943733"/>
                </a:solidFill>
                <a:latin typeface="Calibri"/>
                <a:cs typeface="Calibri"/>
              </a:rPr>
              <a:t>Project</a:t>
            </a:r>
            <a:r>
              <a:rPr sz="2400" b="1" spc="-20" dirty="0">
                <a:solidFill>
                  <a:srgbClr val="943733"/>
                </a:solidFill>
                <a:latin typeface="Calibri"/>
                <a:cs typeface="Calibri"/>
              </a:rPr>
              <a:t> </a:t>
            </a:r>
            <a:r>
              <a:rPr sz="2400" b="1" dirty="0">
                <a:solidFill>
                  <a:srgbClr val="943733"/>
                </a:solidFill>
                <a:latin typeface="Calibri"/>
                <a:cs typeface="Calibri"/>
              </a:rPr>
              <a:t>I</a:t>
            </a:r>
            <a:r>
              <a:rPr lang="en-US" sz="2400" b="1" spc="-20" dirty="0">
                <a:solidFill>
                  <a:srgbClr val="943733"/>
                </a:solidFill>
                <a:latin typeface="Calibri"/>
                <a:cs typeface="Calibri"/>
              </a:rPr>
              <a:t>II</a:t>
            </a:r>
            <a:r>
              <a:rPr sz="2400" b="1" spc="-20" dirty="0">
                <a:solidFill>
                  <a:srgbClr val="943733"/>
                </a:solidFill>
                <a:latin typeface="Calibri"/>
                <a:cs typeface="Calibri"/>
              </a:rPr>
              <a:t> </a:t>
            </a:r>
            <a:r>
              <a:rPr sz="2400" b="1" dirty="0">
                <a:solidFill>
                  <a:srgbClr val="943733"/>
                </a:solidFill>
                <a:latin typeface="Calibri"/>
                <a:cs typeface="Calibri"/>
              </a:rPr>
              <a:t>P</a:t>
            </a:r>
            <a:r>
              <a:rPr lang="en-US" sz="2400" b="1" dirty="0">
                <a:solidFill>
                  <a:srgbClr val="943733"/>
                </a:solidFill>
                <a:latin typeface="Calibri"/>
                <a:cs typeface="Calibri"/>
              </a:rPr>
              <a:t>roject</a:t>
            </a:r>
            <a:r>
              <a:rPr lang="en-US" sz="2400" b="1" spc="-20" dirty="0">
                <a:solidFill>
                  <a:srgbClr val="943733"/>
                </a:solidFill>
                <a:latin typeface="Calibri"/>
                <a:cs typeface="Calibri"/>
              </a:rPr>
              <a:t> Work</a:t>
            </a:r>
            <a:endParaRPr sz="2400" dirty="0">
              <a:latin typeface="Calibri"/>
              <a:cs typeface="Calibri"/>
            </a:endParaRPr>
          </a:p>
          <a:p>
            <a:pPr marL="17145" algn="ctr">
              <a:spcBef>
                <a:spcPts val="1370"/>
              </a:spcBef>
            </a:pPr>
            <a:r>
              <a:rPr sz="2800" b="1" dirty="0">
                <a:solidFill>
                  <a:srgbClr val="002060"/>
                </a:solidFill>
                <a:latin typeface="Calibri"/>
                <a:cs typeface="Calibri"/>
              </a:rPr>
              <a:t>“</a:t>
            </a:r>
            <a:r>
              <a:rPr sz="2800" b="1" dirty="0">
                <a:solidFill>
                  <a:srgbClr val="6F2FA0"/>
                </a:solidFill>
                <a:latin typeface="Calibri"/>
                <a:cs typeface="Calibri"/>
              </a:rPr>
              <a:t>Development</a:t>
            </a:r>
            <a:r>
              <a:rPr sz="2800" b="1" spc="-80" dirty="0">
                <a:solidFill>
                  <a:srgbClr val="6F2FA0"/>
                </a:solidFill>
                <a:latin typeface="Calibri"/>
                <a:cs typeface="Calibri"/>
              </a:rPr>
              <a:t> </a:t>
            </a:r>
            <a:r>
              <a:rPr sz="2800" b="1" dirty="0">
                <a:solidFill>
                  <a:srgbClr val="6F2FA0"/>
                </a:solidFill>
                <a:latin typeface="Calibri"/>
                <a:cs typeface="Calibri"/>
              </a:rPr>
              <a:t>of</a:t>
            </a:r>
            <a:r>
              <a:rPr sz="2800" b="1" spc="-80" dirty="0">
                <a:solidFill>
                  <a:srgbClr val="6F2FA0"/>
                </a:solidFill>
                <a:latin typeface="Calibri"/>
                <a:cs typeface="Calibri"/>
              </a:rPr>
              <a:t> </a:t>
            </a:r>
            <a:r>
              <a:rPr lang="en-US" sz="2800" b="1" dirty="0">
                <a:solidFill>
                  <a:srgbClr val="7030A0"/>
                </a:solidFill>
                <a:latin typeface="+mn-lt"/>
              </a:rPr>
              <a:t>AI-Driven Social Platform with FAQ Support </a:t>
            </a:r>
            <a:r>
              <a:rPr lang="en-US" sz="2800" b="1" dirty="0">
                <a:solidFill>
                  <a:srgbClr val="7030A0"/>
                </a:solidFill>
              </a:rPr>
              <a:t>” </a:t>
            </a:r>
            <a:endParaRPr sz="2800" dirty="0">
              <a:latin typeface="Calibri"/>
              <a:cs typeface="Calibri"/>
            </a:endParaRPr>
          </a:p>
          <a:p>
            <a:pPr algn="ctr">
              <a:lnSpc>
                <a:spcPct val="100000"/>
              </a:lnSpc>
              <a:spcBef>
                <a:spcPts val="1440"/>
              </a:spcBef>
            </a:pPr>
            <a:r>
              <a:rPr lang="en-US" sz="1600" spc="-10" dirty="0">
                <a:solidFill>
                  <a:srgbClr val="00B0F0"/>
                </a:solidFill>
                <a:latin typeface="Calibri"/>
                <a:cs typeface="Calibri"/>
              </a:rPr>
              <a:t>   </a:t>
            </a:r>
            <a:r>
              <a:rPr sz="1600" spc="-10" dirty="0">
                <a:solidFill>
                  <a:srgbClr val="00B0F0"/>
                </a:solidFill>
                <a:latin typeface="Calibri"/>
                <a:cs typeface="Calibri"/>
              </a:rPr>
              <a:t>Type</a:t>
            </a:r>
            <a:r>
              <a:rPr sz="1600" spc="-40" dirty="0">
                <a:solidFill>
                  <a:srgbClr val="00B0F0"/>
                </a:solidFill>
                <a:latin typeface="Calibri"/>
                <a:cs typeface="Calibri"/>
              </a:rPr>
              <a:t> </a:t>
            </a:r>
            <a:r>
              <a:rPr sz="1600" dirty="0">
                <a:solidFill>
                  <a:srgbClr val="00B0F0"/>
                </a:solidFill>
                <a:latin typeface="Calibri"/>
                <a:cs typeface="Calibri"/>
              </a:rPr>
              <a:t>of</a:t>
            </a:r>
            <a:r>
              <a:rPr sz="1600" spc="-35" dirty="0">
                <a:solidFill>
                  <a:srgbClr val="00B0F0"/>
                </a:solidFill>
                <a:latin typeface="Calibri"/>
                <a:cs typeface="Calibri"/>
              </a:rPr>
              <a:t> </a:t>
            </a:r>
            <a:r>
              <a:rPr sz="1600" dirty="0">
                <a:solidFill>
                  <a:srgbClr val="00B0F0"/>
                </a:solidFill>
                <a:latin typeface="Calibri"/>
                <a:cs typeface="Calibri"/>
              </a:rPr>
              <a:t>Project:</a:t>
            </a:r>
            <a:r>
              <a:rPr sz="1600" spc="-40" dirty="0">
                <a:solidFill>
                  <a:srgbClr val="00B0F0"/>
                </a:solidFill>
                <a:latin typeface="Calibri"/>
                <a:cs typeface="Calibri"/>
              </a:rPr>
              <a:t> </a:t>
            </a:r>
            <a:r>
              <a:rPr lang="en-US" sz="1600" spc="-40" dirty="0">
                <a:solidFill>
                  <a:srgbClr val="00B0F0"/>
                </a:solidFill>
                <a:latin typeface="Calibri"/>
                <a:cs typeface="Calibri"/>
              </a:rPr>
              <a:t>Web </a:t>
            </a:r>
            <a:r>
              <a:rPr sz="1600" dirty="0">
                <a:solidFill>
                  <a:srgbClr val="00B0F0"/>
                </a:solidFill>
                <a:latin typeface="Calibri"/>
                <a:cs typeface="Calibri"/>
              </a:rPr>
              <a:t>Application</a:t>
            </a:r>
            <a:r>
              <a:rPr sz="1600" spc="-35" dirty="0">
                <a:solidFill>
                  <a:srgbClr val="00B0F0"/>
                </a:solidFill>
                <a:latin typeface="Calibri"/>
                <a:cs typeface="Calibri"/>
              </a:rPr>
              <a:t> </a:t>
            </a:r>
            <a:endParaRPr sz="1600" dirty="0">
              <a:latin typeface="Calibri"/>
              <a:cs typeface="Calibri"/>
            </a:endParaRPr>
          </a:p>
          <a:p>
            <a:pPr marL="3175" algn="ctr">
              <a:lnSpc>
                <a:spcPct val="100000"/>
              </a:lnSpc>
              <a:spcBef>
                <a:spcPts val="30"/>
              </a:spcBef>
            </a:pPr>
            <a:r>
              <a:rPr lang="en-US" sz="1600" b="1" dirty="0">
                <a:solidFill>
                  <a:srgbClr val="BF0000"/>
                </a:solidFill>
                <a:latin typeface="Calibri"/>
                <a:cs typeface="Calibri"/>
              </a:rPr>
              <a:t>      </a:t>
            </a:r>
            <a:r>
              <a:rPr sz="1600" b="1" dirty="0">
                <a:solidFill>
                  <a:srgbClr val="BF0000"/>
                </a:solidFill>
                <a:latin typeface="Calibri"/>
                <a:cs typeface="Calibri"/>
              </a:rPr>
              <a:t>Expected</a:t>
            </a:r>
            <a:r>
              <a:rPr sz="1600" b="1" spc="-30" dirty="0">
                <a:solidFill>
                  <a:srgbClr val="BF0000"/>
                </a:solidFill>
                <a:latin typeface="Calibri"/>
                <a:cs typeface="Calibri"/>
              </a:rPr>
              <a:t> </a:t>
            </a:r>
            <a:r>
              <a:rPr sz="1600" b="1" dirty="0">
                <a:solidFill>
                  <a:srgbClr val="BF0000"/>
                </a:solidFill>
                <a:latin typeface="Calibri"/>
                <a:cs typeface="Calibri"/>
              </a:rPr>
              <a:t>Project</a:t>
            </a:r>
            <a:r>
              <a:rPr sz="1600" b="1" spc="-25" dirty="0">
                <a:solidFill>
                  <a:srgbClr val="BF0000"/>
                </a:solidFill>
                <a:latin typeface="Calibri"/>
                <a:cs typeface="Calibri"/>
              </a:rPr>
              <a:t> </a:t>
            </a:r>
            <a:r>
              <a:rPr sz="1600" b="1" dirty="0">
                <a:solidFill>
                  <a:srgbClr val="BF0000"/>
                </a:solidFill>
                <a:latin typeface="Calibri"/>
                <a:cs typeface="Calibri"/>
              </a:rPr>
              <a:t>Outcome</a:t>
            </a:r>
            <a:r>
              <a:rPr sz="1600" b="1" spc="-25" dirty="0">
                <a:solidFill>
                  <a:srgbClr val="BF0000"/>
                </a:solidFill>
                <a:latin typeface="Calibri"/>
                <a:cs typeface="Calibri"/>
              </a:rPr>
              <a:t> </a:t>
            </a:r>
            <a:r>
              <a:rPr sz="1600" b="1" dirty="0">
                <a:solidFill>
                  <a:srgbClr val="BF0000"/>
                </a:solidFill>
                <a:latin typeface="Calibri"/>
                <a:cs typeface="Calibri"/>
              </a:rPr>
              <a:t>:</a:t>
            </a:r>
            <a:r>
              <a:rPr sz="1600" b="1" spc="-25" dirty="0">
                <a:solidFill>
                  <a:srgbClr val="BF0000"/>
                </a:solidFill>
                <a:latin typeface="Calibri"/>
                <a:cs typeface="Calibri"/>
              </a:rPr>
              <a:t> </a:t>
            </a:r>
            <a:r>
              <a:rPr lang="en-US" sz="1600" b="1" spc="-25" dirty="0">
                <a:solidFill>
                  <a:srgbClr val="BF0000"/>
                </a:solidFill>
                <a:latin typeface="Calibri"/>
                <a:cs typeface="Calibri"/>
              </a:rPr>
              <a:t> </a:t>
            </a:r>
            <a:r>
              <a:rPr sz="1600" b="1" dirty="0">
                <a:solidFill>
                  <a:srgbClr val="BF0000"/>
                </a:solidFill>
                <a:latin typeface="Calibri"/>
                <a:cs typeface="Calibri"/>
              </a:rPr>
              <a:t>Product</a:t>
            </a:r>
            <a:r>
              <a:rPr sz="1600" b="1" spc="-25" dirty="0">
                <a:solidFill>
                  <a:srgbClr val="BF0000"/>
                </a:solidFill>
                <a:latin typeface="Calibri"/>
                <a:cs typeface="Calibri"/>
              </a:rPr>
              <a:t> </a:t>
            </a:r>
            <a:endParaRPr sz="1600" dirty="0">
              <a:latin typeface="Calibri"/>
              <a:cs typeface="Calibri"/>
            </a:endParaRPr>
          </a:p>
          <a:p>
            <a:pPr algn="ctr" eaLnBrk="1" fontAlgn="auto" hangingPunct="1">
              <a:spcBef>
                <a:spcPts val="0"/>
              </a:spcBef>
              <a:spcAft>
                <a:spcPts val="0"/>
              </a:spcAft>
              <a:defRPr/>
            </a:pPr>
            <a:r>
              <a:rPr sz="2000" b="1" spc="-10" dirty="0">
                <a:solidFill>
                  <a:srgbClr val="FF0000"/>
                </a:solidFill>
                <a:latin typeface="Calibri"/>
                <a:cs typeface="Calibri"/>
              </a:rPr>
              <a:t>Presented</a:t>
            </a:r>
            <a:r>
              <a:rPr sz="2000" b="1" spc="-65" dirty="0">
                <a:solidFill>
                  <a:srgbClr val="FF0000"/>
                </a:solidFill>
                <a:latin typeface="Calibri"/>
                <a:cs typeface="Calibri"/>
              </a:rPr>
              <a:t> </a:t>
            </a:r>
            <a:r>
              <a:rPr sz="2000" b="1" spc="-35" dirty="0">
                <a:solidFill>
                  <a:srgbClr val="FF0000"/>
                </a:solidFill>
                <a:latin typeface="Calibri"/>
                <a:cs typeface="Calibri"/>
              </a:rPr>
              <a:t>by</a:t>
            </a:r>
            <a:r>
              <a:rPr lang="en-US" sz="2000" b="1" spc="-35" dirty="0">
                <a:solidFill>
                  <a:srgbClr val="FF0000"/>
                </a:solidFill>
                <a:latin typeface="Calibri"/>
                <a:cs typeface="Calibri"/>
              </a:rPr>
              <a:t>  </a:t>
            </a:r>
            <a:r>
              <a:rPr sz="2000" b="1" spc="-35" dirty="0">
                <a:solidFill>
                  <a:srgbClr val="FF0000"/>
                </a:solidFill>
                <a:latin typeface="Calibri"/>
                <a:cs typeface="Calibri"/>
              </a:rPr>
              <a:t> </a:t>
            </a:r>
            <a:endParaRPr lang="en-US" sz="2000" b="1" spc="-35" dirty="0">
              <a:solidFill>
                <a:srgbClr val="FF0000"/>
              </a:solidFill>
              <a:latin typeface="Calibri"/>
              <a:cs typeface="Calibri"/>
            </a:endParaRPr>
          </a:p>
          <a:p>
            <a:pPr algn="ctr" eaLnBrk="1" fontAlgn="auto" hangingPunct="1">
              <a:spcBef>
                <a:spcPts val="0"/>
              </a:spcBef>
              <a:spcAft>
                <a:spcPts val="0"/>
              </a:spcAft>
              <a:defRPr/>
            </a:pPr>
            <a:r>
              <a:rPr lang="en-US" sz="2000" b="1" dirty="0">
                <a:solidFill>
                  <a:srgbClr val="002060"/>
                </a:solidFill>
              </a:rPr>
              <a:t> Sivabalan A – 71812401234</a:t>
            </a:r>
          </a:p>
          <a:p>
            <a:pPr algn="ctr">
              <a:defRPr/>
            </a:pPr>
            <a:r>
              <a:rPr lang="en-US" sz="2000" b="1" dirty="0">
                <a:solidFill>
                  <a:srgbClr val="002060"/>
                </a:solidFill>
              </a:rPr>
              <a:t>  Sowmyasree S – 71812401235</a:t>
            </a:r>
          </a:p>
          <a:p>
            <a:pPr algn="ctr">
              <a:defRPr/>
            </a:pPr>
            <a:r>
              <a:rPr lang="en-US" sz="2000" b="1" dirty="0">
                <a:solidFill>
                  <a:srgbClr val="002060"/>
                </a:solidFill>
              </a:rPr>
              <a:t>   Pitambar Yadav - 71812401266</a:t>
            </a:r>
          </a:p>
          <a:p>
            <a:pPr marL="2479675" marR="2459355" indent="495300">
              <a:lnSpc>
                <a:spcPct val="100000"/>
              </a:lnSpc>
            </a:pPr>
            <a:endParaRPr sz="2000" dirty="0">
              <a:latin typeface="Calibri"/>
              <a:cs typeface="Calibri"/>
            </a:endParaRPr>
          </a:p>
        </p:txBody>
      </p:sp>
      <p:sp>
        <p:nvSpPr>
          <p:cNvPr id="3" name="object 3"/>
          <p:cNvSpPr txBox="1"/>
          <p:nvPr/>
        </p:nvSpPr>
        <p:spPr>
          <a:xfrm>
            <a:off x="3720669" y="5536374"/>
            <a:ext cx="3365931" cy="1256754"/>
          </a:xfrm>
          <a:prstGeom prst="rect">
            <a:avLst/>
          </a:prstGeom>
        </p:spPr>
        <p:txBody>
          <a:bodyPr vert="horz" wrap="square" lIns="0" tIns="12700" rIns="0" bIns="0" rtlCol="0">
            <a:spAutoFit/>
          </a:bodyPr>
          <a:lstStyle/>
          <a:p>
            <a:pPr algn="ctr" eaLnBrk="1" fontAlgn="auto" hangingPunct="1">
              <a:spcBef>
                <a:spcPts val="0"/>
              </a:spcBef>
              <a:spcAft>
                <a:spcPts val="0"/>
              </a:spcAft>
              <a:defRPr/>
            </a:pPr>
            <a:r>
              <a:rPr sz="2000" b="1" dirty="0">
                <a:solidFill>
                  <a:srgbClr val="FF0000"/>
                </a:solidFill>
                <a:latin typeface="Calibri"/>
                <a:cs typeface="Calibri"/>
              </a:rPr>
              <a:t>Supervised</a:t>
            </a:r>
            <a:r>
              <a:rPr sz="2000" b="1" spc="-114" dirty="0">
                <a:solidFill>
                  <a:srgbClr val="FF0000"/>
                </a:solidFill>
                <a:latin typeface="Calibri"/>
                <a:cs typeface="Calibri"/>
              </a:rPr>
              <a:t> </a:t>
            </a:r>
            <a:r>
              <a:rPr sz="2000" b="1" spc="-25" dirty="0">
                <a:solidFill>
                  <a:srgbClr val="FF0000"/>
                </a:solidFill>
                <a:latin typeface="Calibri"/>
                <a:cs typeface="Calibri"/>
              </a:rPr>
              <a:t>by </a:t>
            </a:r>
            <a:endParaRPr lang="en-US" sz="2000" b="1" spc="-25" dirty="0">
              <a:solidFill>
                <a:srgbClr val="FF0000"/>
              </a:solidFill>
              <a:latin typeface="Calibri"/>
              <a:cs typeface="Calibri"/>
            </a:endParaRPr>
          </a:p>
          <a:p>
            <a:pPr algn="ctr" eaLnBrk="1" fontAlgn="auto" hangingPunct="1">
              <a:spcBef>
                <a:spcPts val="0"/>
              </a:spcBef>
              <a:spcAft>
                <a:spcPts val="0"/>
              </a:spcAft>
              <a:defRPr/>
            </a:pPr>
            <a:r>
              <a:rPr lang="en-US" sz="2000" b="1" dirty="0" err="1">
                <a:solidFill>
                  <a:srgbClr val="00B050"/>
                </a:solidFill>
              </a:rPr>
              <a:t>Mr.S.Suresh</a:t>
            </a:r>
            <a:r>
              <a:rPr lang="en-US" sz="2000" b="1" dirty="0">
                <a:solidFill>
                  <a:srgbClr val="00B050"/>
                </a:solidFill>
              </a:rPr>
              <a:t> Kumar</a:t>
            </a:r>
          </a:p>
          <a:p>
            <a:pPr algn="ctr">
              <a:defRPr/>
            </a:pPr>
            <a:r>
              <a:rPr lang="en-US" sz="2000" b="1" dirty="0">
                <a:solidFill>
                  <a:srgbClr val="00B050"/>
                </a:solidFill>
              </a:rPr>
              <a:t>(Assistant Professor / </a:t>
            </a:r>
            <a:r>
              <a:rPr lang="en-US" sz="2000" b="1" dirty="0" err="1">
                <a:solidFill>
                  <a:srgbClr val="00B050"/>
                </a:solidFill>
              </a:rPr>
              <a:t>Sl.G</a:t>
            </a:r>
            <a:r>
              <a:rPr lang="en-US" sz="2000" b="1" dirty="0">
                <a:solidFill>
                  <a:srgbClr val="00B050"/>
                </a:solidFill>
              </a:rPr>
              <a:t>)</a:t>
            </a:r>
          </a:p>
          <a:p>
            <a:pPr marL="107950" marR="5080" indent="-95250">
              <a:lnSpc>
                <a:spcPct val="100000"/>
              </a:lnSpc>
              <a:spcBef>
                <a:spcPts val="100"/>
              </a:spcBef>
            </a:pPr>
            <a:endParaRPr sz="2000" dirty="0">
              <a:latin typeface="Calibri"/>
              <a:cs typeface="Calibri"/>
            </a:endParaRPr>
          </a:p>
        </p:txBody>
      </p:sp>
      <p:sp>
        <p:nvSpPr>
          <p:cNvPr id="4" name="object 4"/>
          <p:cNvSpPr/>
          <p:nvPr/>
        </p:nvSpPr>
        <p:spPr>
          <a:xfrm>
            <a:off x="179387" y="1522412"/>
            <a:ext cx="1944370" cy="538480"/>
          </a:xfrm>
          <a:custGeom>
            <a:avLst/>
            <a:gdLst/>
            <a:ahLst/>
            <a:cxnLst/>
            <a:rect l="l" t="t" r="r" b="b"/>
            <a:pathLst>
              <a:path w="1944370" h="538480">
                <a:moveTo>
                  <a:pt x="0" y="89740"/>
                </a:moveTo>
                <a:lnTo>
                  <a:pt x="7052" y="54809"/>
                </a:lnTo>
                <a:lnTo>
                  <a:pt x="26284" y="26284"/>
                </a:lnTo>
                <a:lnTo>
                  <a:pt x="54809" y="7052"/>
                </a:lnTo>
                <a:lnTo>
                  <a:pt x="89740" y="0"/>
                </a:lnTo>
                <a:lnTo>
                  <a:pt x="1854599" y="0"/>
                </a:lnTo>
                <a:lnTo>
                  <a:pt x="1904387" y="15077"/>
                </a:lnTo>
                <a:lnTo>
                  <a:pt x="1937508" y="55398"/>
                </a:lnTo>
                <a:lnTo>
                  <a:pt x="1944339" y="89740"/>
                </a:lnTo>
                <a:lnTo>
                  <a:pt x="1944339" y="448694"/>
                </a:lnTo>
                <a:lnTo>
                  <a:pt x="1937287" y="483625"/>
                </a:lnTo>
                <a:lnTo>
                  <a:pt x="1918055" y="512150"/>
                </a:lnTo>
                <a:lnTo>
                  <a:pt x="1889530" y="531382"/>
                </a:lnTo>
                <a:lnTo>
                  <a:pt x="1854599" y="538435"/>
                </a:lnTo>
                <a:lnTo>
                  <a:pt x="89740" y="538435"/>
                </a:lnTo>
                <a:lnTo>
                  <a:pt x="54809" y="531382"/>
                </a:lnTo>
                <a:lnTo>
                  <a:pt x="26284" y="512150"/>
                </a:lnTo>
                <a:lnTo>
                  <a:pt x="7052" y="483625"/>
                </a:lnTo>
                <a:lnTo>
                  <a:pt x="0" y="448694"/>
                </a:lnTo>
                <a:lnTo>
                  <a:pt x="0" y="89740"/>
                </a:lnTo>
                <a:close/>
              </a:path>
            </a:pathLst>
          </a:custGeom>
          <a:ln w="25399">
            <a:solidFill>
              <a:srgbClr val="385D89"/>
            </a:solidFill>
          </a:ln>
        </p:spPr>
        <p:txBody>
          <a:bodyPr wrap="square" lIns="0" tIns="0" rIns="0" bIns="0" rtlCol="0"/>
          <a:lstStyle/>
          <a:p>
            <a:endParaRPr/>
          </a:p>
        </p:txBody>
      </p:sp>
      <p:sp>
        <p:nvSpPr>
          <p:cNvPr id="5" name="object 5"/>
          <p:cNvSpPr txBox="1"/>
          <p:nvPr/>
        </p:nvSpPr>
        <p:spPr>
          <a:xfrm>
            <a:off x="284397" y="1631291"/>
            <a:ext cx="1839360" cy="289823"/>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0000"/>
                </a:solidFill>
                <a:latin typeface="Calibri"/>
                <a:cs typeface="Calibri"/>
              </a:rPr>
              <a:t>Batch</a:t>
            </a:r>
            <a:r>
              <a:rPr sz="1800" b="1" spc="-85" dirty="0">
                <a:solidFill>
                  <a:srgbClr val="FF0000"/>
                </a:solidFill>
                <a:latin typeface="Calibri"/>
                <a:cs typeface="Calibri"/>
              </a:rPr>
              <a:t> </a:t>
            </a:r>
            <a:r>
              <a:rPr sz="1800" b="1" spc="-25" dirty="0">
                <a:solidFill>
                  <a:srgbClr val="FF0000"/>
                </a:solidFill>
                <a:latin typeface="Calibri"/>
                <a:cs typeface="Calibri"/>
              </a:rPr>
              <a:t>No</a:t>
            </a:r>
            <a:r>
              <a:rPr sz="1800" spc="-25" dirty="0">
                <a:solidFill>
                  <a:srgbClr val="FF0000"/>
                </a:solidFill>
                <a:latin typeface="Calibri"/>
                <a:cs typeface="Calibri"/>
              </a:rPr>
              <a:t>:</a:t>
            </a:r>
            <a:r>
              <a:rPr lang="en-US" sz="1800" spc="-25" dirty="0">
                <a:solidFill>
                  <a:srgbClr val="FF0000"/>
                </a:solidFill>
                <a:latin typeface="Calibri"/>
                <a:cs typeface="Calibri"/>
              </a:rPr>
              <a:t> 2CS56</a:t>
            </a:r>
            <a:endParaRPr sz="1800" dirty="0">
              <a:latin typeface="Calibri"/>
              <a:cs typeface="Calibri"/>
            </a:endParaRPr>
          </a:p>
        </p:txBody>
      </p:sp>
      <p:sp>
        <p:nvSpPr>
          <p:cNvPr id="6" name="object 6"/>
          <p:cNvSpPr/>
          <p:nvPr/>
        </p:nvSpPr>
        <p:spPr>
          <a:xfrm>
            <a:off x="323527" y="5954438"/>
            <a:ext cx="2952750" cy="538480"/>
          </a:xfrm>
          <a:custGeom>
            <a:avLst/>
            <a:gdLst/>
            <a:ahLst/>
            <a:cxnLst/>
            <a:rect l="l" t="t" r="r" b="b"/>
            <a:pathLst>
              <a:path w="2952750" h="538479">
                <a:moveTo>
                  <a:pt x="0" y="89740"/>
                </a:moveTo>
                <a:lnTo>
                  <a:pt x="7052" y="54809"/>
                </a:lnTo>
                <a:lnTo>
                  <a:pt x="26284" y="26284"/>
                </a:lnTo>
                <a:lnTo>
                  <a:pt x="54809" y="7052"/>
                </a:lnTo>
                <a:lnTo>
                  <a:pt x="89740" y="0"/>
                </a:lnTo>
                <a:lnTo>
                  <a:pt x="2862587" y="0"/>
                </a:lnTo>
                <a:lnTo>
                  <a:pt x="2912375" y="15077"/>
                </a:lnTo>
                <a:lnTo>
                  <a:pt x="2945496" y="55398"/>
                </a:lnTo>
                <a:lnTo>
                  <a:pt x="2952328" y="89740"/>
                </a:lnTo>
                <a:lnTo>
                  <a:pt x="2952328" y="448694"/>
                </a:lnTo>
                <a:lnTo>
                  <a:pt x="2945275" y="483625"/>
                </a:lnTo>
                <a:lnTo>
                  <a:pt x="2926043" y="512150"/>
                </a:lnTo>
                <a:lnTo>
                  <a:pt x="2897518" y="531382"/>
                </a:lnTo>
                <a:lnTo>
                  <a:pt x="2862587" y="538434"/>
                </a:lnTo>
                <a:lnTo>
                  <a:pt x="89740" y="538434"/>
                </a:lnTo>
                <a:lnTo>
                  <a:pt x="54809" y="531382"/>
                </a:lnTo>
                <a:lnTo>
                  <a:pt x="26284" y="512150"/>
                </a:lnTo>
                <a:lnTo>
                  <a:pt x="7052" y="483625"/>
                </a:lnTo>
                <a:lnTo>
                  <a:pt x="0" y="448694"/>
                </a:lnTo>
                <a:lnTo>
                  <a:pt x="0" y="89740"/>
                </a:lnTo>
                <a:close/>
              </a:path>
            </a:pathLst>
          </a:custGeom>
          <a:ln w="25399">
            <a:solidFill>
              <a:srgbClr val="385D89"/>
            </a:solidFill>
          </a:ln>
        </p:spPr>
        <p:txBody>
          <a:bodyPr wrap="square" lIns="0" tIns="0" rIns="0" bIns="0" rtlCol="0"/>
          <a:lstStyle/>
          <a:p>
            <a:endParaRPr/>
          </a:p>
        </p:txBody>
      </p:sp>
      <p:sp>
        <p:nvSpPr>
          <p:cNvPr id="7" name="object 7"/>
          <p:cNvSpPr txBox="1"/>
          <p:nvPr/>
        </p:nvSpPr>
        <p:spPr>
          <a:xfrm>
            <a:off x="428537" y="5925206"/>
            <a:ext cx="1038860" cy="575945"/>
          </a:xfrm>
          <a:prstGeom prst="rect">
            <a:avLst/>
          </a:prstGeom>
        </p:spPr>
        <p:txBody>
          <a:bodyPr vert="horz" wrap="square" lIns="0" tIns="10795" rIns="0" bIns="0" rtlCol="0">
            <a:spAutoFit/>
          </a:bodyPr>
          <a:lstStyle/>
          <a:p>
            <a:pPr marL="12700" marR="5080">
              <a:lnSpc>
                <a:spcPct val="100699"/>
              </a:lnSpc>
              <a:spcBef>
                <a:spcPts val="85"/>
              </a:spcBef>
            </a:pPr>
            <a:r>
              <a:rPr sz="1800" b="1" dirty="0">
                <a:solidFill>
                  <a:srgbClr val="6F2FA0"/>
                </a:solidFill>
                <a:latin typeface="Calibri"/>
                <a:cs typeface="Calibri"/>
              </a:rPr>
              <a:t>Review</a:t>
            </a:r>
            <a:r>
              <a:rPr sz="1800" b="1" spc="-65" dirty="0">
                <a:solidFill>
                  <a:srgbClr val="6F2FA0"/>
                </a:solidFill>
                <a:latin typeface="Calibri"/>
                <a:cs typeface="Calibri"/>
              </a:rPr>
              <a:t> </a:t>
            </a:r>
            <a:r>
              <a:rPr sz="1800" b="1" spc="-25" dirty="0">
                <a:solidFill>
                  <a:srgbClr val="6F2FA0"/>
                </a:solidFill>
                <a:latin typeface="Calibri"/>
                <a:cs typeface="Calibri"/>
              </a:rPr>
              <a:t>No </a:t>
            </a:r>
            <a:r>
              <a:rPr sz="1800" b="1" spc="-20" dirty="0">
                <a:solidFill>
                  <a:srgbClr val="6F2FA0"/>
                </a:solidFill>
                <a:latin typeface="Calibri"/>
                <a:cs typeface="Calibri"/>
              </a:rPr>
              <a:t>Date</a:t>
            </a:r>
            <a:endParaRPr sz="1800">
              <a:latin typeface="Calibri"/>
              <a:cs typeface="Calibri"/>
            </a:endParaRPr>
          </a:p>
        </p:txBody>
      </p:sp>
      <p:sp>
        <p:nvSpPr>
          <p:cNvPr id="8" name="object 8"/>
          <p:cNvSpPr txBox="1"/>
          <p:nvPr/>
        </p:nvSpPr>
        <p:spPr>
          <a:xfrm>
            <a:off x="1648034" y="5925206"/>
            <a:ext cx="1198245" cy="575945"/>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6F2FA0"/>
                </a:solidFill>
                <a:latin typeface="Calibri"/>
                <a:cs typeface="Calibri"/>
              </a:rPr>
              <a:t>:</a:t>
            </a:r>
            <a:r>
              <a:rPr sz="1800" b="1" spc="60" dirty="0">
                <a:solidFill>
                  <a:srgbClr val="6F2FA0"/>
                </a:solidFill>
                <a:latin typeface="Calibri"/>
                <a:cs typeface="Calibri"/>
              </a:rPr>
              <a:t> </a:t>
            </a:r>
            <a:r>
              <a:rPr sz="1800" b="1" spc="-25" dirty="0">
                <a:solidFill>
                  <a:srgbClr val="006FBF"/>
                </a:solidFill>
                <a:latin typeface="Calibri"/>
                <a:cs typeface="Calibri"/>
              </a:rPr>
              <a:t>I</a:t>
            </a:r>
            <a:r>
              <a:rPr lang="en-US" sz="1800" b="1" spc="-25" dirty="0">
                <a:solidFill>
                  <a:srgbClr val="006FBF"/>
                </a:solidFill>
                <a:latin typeface="Calibri"/>
                <a:cs typeface="Calibri"/>
              </a:rPr>
              <a:t>II</a:t>
            </a:r>
            <a:endParaRPr sz="1800" dirty="0">
              <a:latin typeface="Calibri"/>
              <a:cs typeface="Calibri"/>
            </a:endParaRPr>
          </a:p>
          <a:p>
            <a:pPr marL="13970">
              <a:lnSpc>
                <a:spcPct val="100000"/>
              </a:lnSpc>
              <a:spcBef>
                <a:spcPts val="15"/>
              </a:spcBef>
            </a:pPr>
            <a:r>
              <a:rPr sz="1800" b="1" dirty="0">
                <a:solidFill>
                  <a:srgbClr val="6F2FA0"/>
                </a:solidFill>
                <a:latin typeface="Calibri"/>
                <a:cs typeface="Calibri"/>
              </a:rPr>
              <a:t>:</a:t>
            </a:r>
            <a:r>
              <a:rPr sz="1800" b="1" spc="50" dirty="0">
                <a:solidFill>
                  <a:srgbClr val="6F2FA0"/>
                </a:solidFill>
                <a:latin typeface="Calibri"/>
                <a:cs typeface="Calibri"/>
              </a:rPr>
              <a:t> </a:t>
            </a:r>
            <a:r>
              <a:rPr lang="en-US" b="1" spc="-10" dirty="0">
                <a:solidFill>
                  <a:srgbClr val="006FBF"/>
                </a:solidFill>
                <a:latin typeface="Calibri"/>
                <a:cs typeface="Calibri"/>
              </a:rPr>
              <a:t>06</a:t>
            </a:r>
            <a:r>
              <a:rPr sz="1800" b="1" spc="-10" dirty="0">
                <a:solidFill>
                  <a:srgbClr val="006FBF"/>
                </a:solidFill>
                <a:latin typeface="Calibri"/>
                <a:cs typeface="Calibri"/>
              </a:rPr>
              <a:t>.</a:t>
            </a:r>
            <a:r>
              <a:rPr lang="en-US" sz="1800" b="1" spc="-10" dirty="0">
                <a:solidFill>
                  <a:srgbClr val="006FBF"/>
                </a:solidFill>
                <a:latin typeface="Calibri"/>
                <a:cs typeface="Calibri"/>
              </a:rPr>
              <a:t>02.</a:t>
            </a:r>
            <a:r>
              <a:rPr sz="1800" b="1" spc="-10" dirty="0">
                <a:solidFill>
                  <a:srgbClr val="006FBF"/>
                </a:solidFill>
                <a:latin typeface="Calibri"/>
                <a:cs typeface="Calibri"/>
              </a:rPr>
              <a:t>202</a:t>
            </a:r>
            <a:r>
              <a:rPr lang="en-US" sz="1800" b="1" spc="-10" dirty="0">
                <a:solidFill>
                  <a:srgbClr val="006FBF"/>
                </a:solidFill>
                <a:latin typeface="Calibri"/>
                <a:cs typeface="Calibri"/>
              </a:rPr>
              <a:t>6</a:t>
            </a:r>
            <a:endParaRPr sz="1800" dirty="0">
              <a:latin typeface="Calibri"/>
              <a:cs typeface="Calibri"/>
            </a:endParaRPr>
          </a:p>
        </p:txBody>
      </p:sp>
      <p:sp>
        <p:nvSpPr>
          <p:cNvPr id="9" name="object 9"/>
          <p:cNvSpPr/>
          <p:nvPr/>
        </p:nvSpPr>
        <p:spPr>
          <a:xfrm>
            <a:off x="3455814" y="1488840"/>
            <a:ext cx="1944370" cy="538480"/>
          </a:xfrm>
          <a:custGeom>
            <a:avLst/>
            <a:gdLst/>
            <a:ahLst/>
            <a:cxnLst/>
            <a:rect l="l" t="t" r="r" b="b"/>
            <a:pathLst>
              <a:path w="1944370" h="538480">
                <a:moveTo>
                  <a:pt x="0" y="89740"/>
                </a:moveTo>
                <a:lnTo>
                  <a:pt x="7052" y="54809"/>
                </a:lnTo>
                <a:lnTo>
                  <a:pt x="26284" y="26284"/>
                </a:lnTo>
                <a:lnTo>
                  <a:pt x="54809" y="7052"/>
                </a:lnTo>
                <a:lnTo>
                  <a:pt x="89740" y="0"/>
                </a:lnTo>
                <a:lnTo>
                  <a:pt x="1854598" y="0"/>
                </a:lnTo>
                <a:lnTo>
                  <a:pt x="1904387" y="15077"/>
                </a:lnTo>
                <a:lnTo>
                  <a:pt x="1937508" y="55398"/>
                </a:lnTo>
                <a:lnTo>
                  <a:pt x="1944339" y="89740"/>
                </a:lnTo>
                <a:lnTo>
                  <a:pt x="1944339" y="448693"/>
                </a:lnTo>
                <a:lnTo>
                  <a:pt x="1937287" y="483625"/>
                </a:lnTo>
                <a:lnTo>
                  <a:pt x="1918055" y="512150"/>
                </a:lnTo>
                <a:lnTo>
                  <a:pt x="1889530" y="531382"/>
                </a:lnTo>
                <a:lnTo>
                  <a:pt x="1854598" y="538434"/>
                </a:lnTo>
                <a:lnTo>
                  <a:pt x="89740" y="538434"/>
                </a:lnTo>
                <a:lnTo>
                  <a:pt x="54809" y="531382"/>
                </a:lnTo>
                <a:lnTo>
                  <a:pt x="26284" y="512150"/>
                </a:lnTo>
                <a:lnTo>
                  <a:pt x="7052" y="483625"/>
                </a:lnTo>
                <a:lnTo>
                  <a:pt x="0" y="448693"/>
                </a:lnTo>
                <a:lnTo>
                  <a:pt x="0" y="89740"/>
                </a:lnTo>
                <a:close/>
              </a:path>
            </a:pathLst>
          </a:custGeom>
          <a:ln w="25399">
            <a:solidFill>
              <a:srgbClr val="385D89"/>
            </a:solidFill>
          </a:ln>
        </p:spPr>
        <p:txBody>
          <a:bodyPr wrap="square" lIns="0" tIns="0" rIns="0" bIns="0" rtlCol="0"/>
          <a:lstStyle/>
          <a:p>
            <a:endParaRPr/>
          </a:p>
        </p:txBody>
      </p:sp>
      <p:sp>
        <p:nvSpPr>
          <p:cNvPr id="10" name="object 10"/>
          <p:cNvSpPr txBox="1"/>
          <p:nvPr/>
        </p:nvSpPr>
        <p:spPr>
          <a:xfrm>
            <a:off x="3560821" y="1597719"/>
            <a:ext cx="140524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0000"/>
                </a:solidFill>
                <a:latin typeface="Calibri"/>
                <a:cs typeface="Calibri"/>
              </a:rPr>
              <a:t>Panel</a:t>
            </a:r>
            <a:r>
              <a:rPr sz="1800" b="1" spc="-70" dirty="0">
                <a:solidFill>
                  <a:srgbClr val="FF0000"/>
                </a:solidFill>
                <a:latin typeface="Calibri"/>
                <a:cs typeface="Calibri"/>
              </a:rPr>
              <a:t> </a:t>
            </a:r>
            <a:r>
              <a:rPr sz="1800" b="1" spc="-25" dirty="0">
                <a:solidFill>
                  <a:srgbClr val="FF0000"/>
                </a:solidFill>
                <a:latin typeface="Calibri"/>
                <a:cs typeface="Calibri"/>
              </a:rPr>
              <a:t>No</a:t>
            </a:r>
            <a:r>
              <a:rPr sz="1800" spc="-25" dirty="0">
                <a:solidFill>
                  <a:srgbClr val="FF0000"/>
                </a:solidFill>
                <a:latin typeface="Calibri"/>
                <a:cs typeface="Calibri"/>
              </a:rPr>
              <a:t>:</a:t>
            </a:r>
            <a:r>
              <a:rPr lang="en-US" sz="1800" spc="-25" dirty="0">
                <a:solidFill>
                  <a:srgbClr val="FF0000"/>
                </a:solidFill>
                <a:latin typeface="Calibri"/>
                <a:cs typeface="Calibri"/>
              </a:rPr>
              <a:t> </a:t>
            </a:r>
            <a:endParaRPr sz="1800" dirty="0">
              <a:latin typeface="Calibri"/>
              <a:cs typeface="Calibri"/>
            </a:endParaRPr>
          </a:p>
        </p:txBody>
      </p:sp>
      <p:pic>
        <p:nvPicPr>
          <p:cNvPr id="11" name="object 11"/>
          <p:cNvPicPr/>
          <p:nvPr/>
        </p:nvPicPr>
        <p:blipFill>
          <a:blip r:embed="rId2" cstate="print"/>
          <a:stretch>
            <a:fillRect/>
          </a:stretch>
        </p:blipFill>
        <p:spPr>
          <a:xfrm>
            <a:off x="179387" y="171920"/>
            <a:ext cx="3771899" cy="999489"/>
          </a:xfrm>
          <a:prstGeom prst="rect">
            <a:avLst/>
          </a:prstGeom>
        </p:spPr>
      </p:pic>
      <p:pic>
        <p:nvPicPr>
          <p:cNvPr id="12" name="object 12"/>
          <p:cNvPicPr/>
          <p:nvPr/>
        </p:nvPicPr>
        <p:blipFill>
          <a:blip r:embed="rId3" cstate="print"/>
          <a:stretch>
            <a:fillRect/>
          </a:stretch>
        </p:blipFill>
        <p:spPr>
          <a:xfrm>
            <a:off x="7668343" y="171920"/>
            <a:ext cx="1187623" cy="1105306"/>
          </a:xfrm>
          <a:prstGeom prst="rect">
            <a:avLst/>
          </a:prstGeom>
        </p:spPr>
      </p:pic>
      <p:pic>
        <p:nvPicPr>
          <p:cNvPr id="13" name="object 13"/>
          <p:cNvPicPr/>
          <p:nvPr/>
        </p:nvPicPr>
        <p:blipFill>
          <a:blip r:embed="rId4" cstate="print"/>
          <a:stretch>
            <a:fillRect/>
          </a:stretch>
        </p:blipFill>
        <p:spPr>
          <a:xfrm>
            <a:off x="5280243" y="1189630"/>
            <a:ext cx="152400" cy="152400"/>
          </a:xfrm>
          <a:prstGeom prst="rect">
            <a:avLst/>
          </a:prstGeom>
        </p:spPr>
      </p:pic>
      <p:pic>
        <p:nvPicPr>
          <p:cNvPr id="14" name="object 14"/>
          <p:cNvPicPr/>
          <p:nvPr/>
        </p:nvPicPr>
        <p:blipFill>
          <a:blip r:embed="rId5" cstate="print"/>
          <a:stretch>
            <a:fillRect/>
          </a:stretch>
        </p:blipFill>
        <p:spPr>
          <a:xfrm>
            <a:off x="5265956" y="1013077"/>
            <a:ext cx="180975" cy="122237"/>
          </a:xfrm>
          <a:prstGeom prst="rect">
            <a:avLst/>
          </a:prstGeom>
        </p:spPr>
      </p:pic>
      <p:sp>
        <p:nvSpPr>
          <p:cNvPr id="15" name="object 15"/>
          <p:cNvSpPr txBox="1"/>
          <p:nvPr/>
        </p:nvSpPr>
        <p:spPr>
          <a:xfrm>
            <a:off x="1199719" y="790520"/>
            <a:ext cx="2520950" cy="193040"/>
          </a:xfrm>
          <a:prstGeom prst="rect">
            <a:avLst/>
          </a:prstGeom>
        </p:spPr>
        <p:txBody>
          <a:bodyPr vert="horz" wrap="square" lIns="0" tIns="12700" rIns="0" bIns="0" rtlCol="0">
            <a:spAutoFit/>
          </a:bodyPr>
          <a:lstStyle/>
          <a:p>
            <a:pPr marL="12700">
              <a:lnSpc>
                <a:spcPct val="100000"/>
              </a:lnSpc>
              <a:spcBef>
                <a:spcPts val="100"/>
              </a:spcBef>
            </a:pPr>
            <a:r>
              <a:rPr sz="1100" spc="-120" dirty="0">
                <a:latin typeface="Trebuchet MS"/>
                <a:cs typeface="Trebuchet MS"/>
              </a:rPr>
              <a:t>[Educational</a:t>
            </a:r>
            <a:r>
              <a:rPr sz="1100" spc="-45" dirty="0">
                <a:latin typeface="Trebuchet MS"/>
                <a:cs typeface="Trebuchet MS"/>
              </a:rPr>
              <a:t> </a:t>
            </a:r>
            <a:r>
              <a:rPr sz="1100" spc="-95" dirty="0">
                <a:latin typeface="Trebuchet MS"/>
                <a:cs typeface="Trebuchet MS"/>
              </a:rPr>
              <a:t>Service</a:t>
            </a:r>
            <a:r>
              <a:rPr sz="1100" spc="-45" dirty="0">
                <a:latin typeface="Trebuchet MS"/>
                <a:cs typeface="Trebuchet MS"/>
              </a:rPr>
              <a:t> </a:t>
            </a:r>
            <a:r>
              <a:rPr sz="1100" spc="-240" dirty="0">
                <a:latin typeface="Trebuchet MS"/>
                <a:cs typeface="Trebuchet MS"/>
              </a:rPr>
              <a:t>:</a:t>
            </a:r>
            <a:r>
              <a:rPr sz="1100" spc="-40" dirty="0">
                <a:latin typeface="Trebuchet MS"/>
                <a:cs typeface="Trebuchet MS"/>
              </a:rPr>
              <a:t> </a:t>
            </a:r>
            <a:r>
              <a:rPr sz="1100" spc="-105" dirty="0">
                <a:latin typeface="Trebuchet MS"/>
                <a:cs typeface="Trebuchet MS"/>
              </a:rPr>
              <a:t>SNR</a:t>
            </a:r>
            <a:r>
              <a:rPr sz="1100" spc="-45" dirty="0">
                <a:latin typeface="Trebuchet MS"/>
                <a:cs typeface="Trebuchet MS"/>
              </a:rPr>
              <a:t> </a:t>
            </a:r>
            <a:r>
              <a:rPr sz="1100" spc="-65" dirty="0">
                <a:latin typeface="Trebuchet MS"/>
                <a:cs typeface="Trebuchet MS"/>
              </a:rPr>
              <a:t>Sons</a:t>
            </a:r>
            <a:r>
              <a:rPr sz="1100" spc="-45" dirty="0">
                <a:latin typeface="Trebuchet MS"/>
                <a:cs typeface="Trebuchet MS"/>
              </a:rPr>
              <a:t> </a:t>
            </a:r>
            <a:r>
              <a:rPr sz="1100" spc="-110" dirty="0">
                <a:latin typeface="Trebuchet MS"/>
                <a:cs typeface="Trebuchet MS"/>
              </a:rPr>
              <a:t>Charitable</a:t>
            </a:r>
            <a:r>
              <a:rPr sz="1100" spc="-40" dirty="0">
                <a:latin typeface="Trebuchet MS"/>
                <a:cs typeface="Trebuchet MS"/>
              </a:rPr>
              <a:t> </a:t>
            </a:r>
            <a:r>
              <a:rPr sz="1100" spc="-50" dirty="0">
                <a:latin typeface="Trebuchet MS"/>
                <a:cs typeface="Trebuchet MS"/>
              </a:rPr>
              <a:t>Trust]</a:t>
            </a:r>
            <a:endParaRPr sz="1100">
              <a:latin typeface="Trebuchet MS"/>
              <a:cs typeface="Trebuchet MS"/>
            </a:endParaRPr>
          </a:p>
        </p:txBody>
      </p:sp>
      <p:sp>
        <p:nvSpPr>
          <p:cNvPr id="18" name="object 18"/>
          <p:cNvSpPr txBox="1"/>
          <p:nvPr/>
        </p:nvSpPr>
        <p:spPr>
          <a:xfrm>
            <a:off x="8482949" y="6634162"/>
            <a:ext cx="166370" cy="177800"/>
          </a:xfrm>
          <a:prstGeom prst="rect">
            <a:avLst/>
          </a:prstGeom>
        </p:spPr>
        <p:txBody>
          <a:bodyPr vert="horz" wrap="square" lIns="0" tIns="0" rIns="0" bIns="0" rtlCol="0">
            <a:spAutoFit/>
          </a:bodyPr>
          <a:lstStyle/>
          <a:p>
            <a:pPr marL="38100">
              <a:lnSpc>
                <a:spcPts val="1240"/>
              </a:lnSpc>
            </a:pPr>
            <a:fld id="{81D60167-4931-47E6-BA6A-407CBD079E47}" type="slidenum">
              <a:rPr sz="1200" spc="-50" dirty="0">
                <a:latin typeface="Calibri"/>
                <a:cs typeface="Calibri"/>
              </a:rPr>
              <a:t>1</a:t>
            </a:fld>
            <a:endParaRPr sz="1200">
              <a:latin typeface="Calibri"/>
              <a:cs typeface="Calibri"/>
            </a:endParaRPr>
          </a:p>
        </p:txBody>
      </p:sp>
      <p:sp>
        <p:nvSpPr>
          <p:cNvPr id="16" name="object 16"/>
          <p:cNvSpPr txBox="1"/>
          <p:nvPr/>
        </p:nvSpPr>
        <p:spPr>
          <a:xfrm>
            <a:off x="1078924" y="1145059"/>
            <a:ext cx="2065655" cy="193040"/>
          </a:xfrm>
          <a:prstGeom prst="rect">
            <a:avLst/>
          </a:prstGeom>
        </p:spPr>
        <p:txBody>
          <a:bodyPr vert="horz" wrap="square" lIns="0" tIns="12700" rIns="0" bIns="0" rtlCol="0">
            <a:spAutoFit/>
          </a:bodyPr>
          <a:lstStyle/>
          <a:p>
            <a:pPr marL="12700">
              <a:lnSpc>
                <a:spcPct val="100000"/>
              </a:lnSpc>
              <a:spcBef>
                <a:spcPts val="100"/>
              </a:spcBef>
            </a:pPr>
            <a:r>
              <a:rPr sz="1100" spc="-135" dirty="0">
                <a:latin typeface="Trebuchet MS"/>
                <a:cs typeface="Trebuchet MS"/>
              </a:rPr>
              <a:t>Vattamalaipalayam,</a:t>
            </a:r>
            <a:r>
              <a:rPr sz="1100" spc="5" dirty="0">
                <a:latin typeface="Trebuchet MS"/>
                <a:cs typeface="Trebuchet MS"/>
              </a:rPr>
              <a:t> </a:t>
            </a:r>
            <a:r>
              <a:rPr sz="1100" spc="-220" dirty="0">
                <a:latin typeface="Trebuchet MS"/>
                <a:cs typeface="Trebuchet MS"/>
              </a:rPr>
              <a:t>N.G.G.O.</a:t>
            </a:r>
            <a:r>
              <a:rPr sz="1100" spc="5" dirty="0">
                <a:latin typeface="Trebuchet MS"/>
                <a:cs typeface="Trebuchet MS"/>
              </a:rPr>
              <a:t> </a:t>
            </a:r>
            <a:r>
              <a:rPr sz="1100" spc="-100" dirty="0">
                <a:latin typeface="Trebuchet MS"/>
                <a:cs typeface="Trebuchet MS"/>
              </a:rPr>
              <a:t>Colony</a:t>
            </a:r>
            <a:r>
              <a:rPr sz="1100" spc="10" dirty="0">
                <a:latin typeface="Trebuchet MS"/>
                <a:cs typeface="Trebuchet MS"/>
              </a:rPr>
              <a:t> </a:t>
            </a:r>
            <a:r>
              <a:rPr sz="1100" spc="-75" dirty="0">
                <a:latin typeface="Trebuchet MS"/>
                <a:cs typeface="Trebuchet MS"/>
              </a:rPr>
              <a:t>Post,</a:t>
            </a:r>
            <a:endParaRPr sz="1100">
              <a:latin typeface="Trebuchet MS"/>
              <a:cs typeface="Trebuchet MS"/>
            </a:endParaRPr>
          </a:p>
        </p:txBody>
      </p:sp>
      <p:sp>
        <p:nvSpPr>
          <p:cNvPr id="17" name="object 17"/>
          <p:cNvSpPr txBox="1"/>
          <p:nvPr/>
        </p:nvSpPr>
        <p:spPr>
          <a:xfrm>
            <a:off x="4966067" y="1145059"/>
            <a:ext cx="796290" cy="182101"/>
          </a:xfrm>
          <a:prstGeom prst="rect">
            <a:avLst/>
          </a:prstGeom>
        </p:spPr>
        <p:txBody>
          <a:bodyPr vert="horz" wrap="square" lIns="0" tIns="12700" rIns="0" bIns="0" rtlCol="0">
            <a:spAutoFit/>
          </a:bodyPr>
          <a:lstStyle/>
          <a:p>
            <a:pPr marL="12700">
              <a:lnSpc>
                <a:spcPct val="100000"/>
              </a:lnSpc>
              <a:spcBef>
                <a:spcPts val="100"/>
              </a:spcBef>
            </a:pPr>
            <a:r>
              <a:rPr sz="1100" spc="-120" dirty="0">
                <a:latin typeface="Trebuchet MS"/>
                <a:cs typeface="Trebuchet MS"/>
                <a:hlinkClick r:id="rId6"/>
              </a:rPr>
              <a:t>www.srec.ac.in</a:t>
            </a:r>
            <a:endParaRPr sz="1100" dirty="0">
              <a:latin typeface="Trebuchet MS"/>
              <a:cs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51618" rIns="0" bIns="0" rtlCol="0">
            <a:spAutoFit/>
          </a:bodyPr>
          <a:lstStyle/>
          <a:p>
            <a:pPr marL="2825750">
              <a:lnSpc>
                <a:spcPct val="100000"/>
              </a:lnSpc>
              <a:spcBef>
                <a:spcPts val="100"/>
              </a:spcBef>
            </a:pPr>
            <a:r>
              <a:rPr spc="-10" dirty="0"/>
              <a:t>Contents</a:t>
            </a:r>
          </a:p>
        </p:txBody>
      </p:sp>
      <p:graphicFrame>
        <p:nvGraphicFramePr>
          <p:cNvPr id="3" name="object 3"/>
          <p:cNvGraphicFramePr>
            <a:graphicFrameLocks noGrp="1"/>
          </p:cNvGraphicFramePr>
          <p:nvPr/>
        </p:nvGraphicFramePr>
        <p:xfrm>
          <a:off x="450850" y="1430228"/>
          <a:ext cx="8229600" cy="4715510"/>
        </p:xfrm>
        <a:graphic>
          <a:graphicData uri="http://schemas.openxmlformats.org/drawingml/2006/table">
            <a:tbl>
              <a:tblPr firstRow="1" bandRow="1">
                <a:tableStyleId>{2D5ABB26-0587-4C30-8999-92F81FD0307C}</a:tableStyleId>
              </a:tblPr>
              <a:tblGrid>
                <a:gridCol w="1018540">
                  <a:extLst>
                    <a:ext uri="{9D8B030D-6E8A-4147-A177-3AD203B41FA5}">
                      <a16:colId xmlns:a16="http://schemas.microsoft.com/office/drawing/2014/main" val="20000"/>
                    </a:ext>
                  </a:extLst>
                </a:gridCol>
                <a:gridCol w="5472430">
                  <a:extLst>
                    <a:ext uri="{9D8B030D-6E8A-4147-A177-3AD203B41FA5}">
                      <a16:colId xmlns:a16="http://schemas.microsoft.com/office/drawing/2014/main" val="20001"/>
                    </a:ext>
                  </a:extLst>
                </a:gridCol>
                <a:gridCol w="1738630">
                  <a:extLst>
                    <a:ext uri="{9D8B030D-6E8A-4147-A177-3AD203B41FA5}">
                      <a16:colId xmlns:a16="http://schemas.microsoft.com/office/drawing/2014/main" val="20002"/>
                    </a:ext>
                  </a:extLst>
                </a:gridCol>
              </a:tblGrid>
              <a:tr h="370205">
                <a:tc>
                  <a:txBody>
                    <a:bodyPr/>
                    <a:lstStyle/>
                    <a:p>
                      <a:pPr>
                        <a:lnSpc>
                          <a:spcPct val="100000"/>
                        </a:lnSpc>
                      </a:pP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E81BD"/>
                    </a:solidFill>
                  </a:tcPr>
                </a:tc>
                <a:tc>
                  <a:txBody>
                    <a:bodyPr/>
                    <a:lstStyle/>
                    <a:p>
                      <a:pPr>
                        <a:lnSpc>
                          <a:spcPct val="100000"/>
                        </a:lnSpc>
                      </a:pP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E81BD"/>
                    </a:solidFill>
                  </a:tcPr>
                </a:tc>
                <a:tc>
                  <a:txBody>
                    <a:bodyPr/>
                    <a:lstStyle/>
                    <a:p>
                      <a:pPr>
                        <a:lnSpc>
                          <a:spcPct val="100000"/>
                        </a:lnSpc>
                      </a:pP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E81BD"/>
                    </a:solidFill>
                  </a:tcPr>
                </a:tc>
                <a:extLst>
                  <a:ext uri="{0D108BD9-81ED-4DB2-BD59-A6C34878D82A}">
                    <a16:rowId xmlns:a16="http://schemas.microsoft.com/office/drawing/2014/main" val="10000"/>
                  </a:ext>
                </a:extLst>
              </a:tr>
              <a:tr h="370205">
                <a:tc>
                  <a:txBody>
                    <a:bodyPr/>
                    <a:lstStyle/>
                    <a:p>
                      <a:pPr marR="9525" algn="ctr">
                        <a:lnSpc>
                          <a:spcPct val="100000"/>
                        </a:lnSpc>
                        <a:spcBef>
                          <a:spcPts val="284"/>
                        </a:spcBef>
                      </a:pPr>
                      <a:r>
                        <a:rPr sz="1800" spc="-565" dirty="0">
                          <a:solidFill>
                            <a:srgbClr val="2A0499"/>
                          </a:solidFill>
                          <a:latin typeface="Trebuchet MS"/>
                          <a:cs typeface="Trebuchet MS"/>
                        </a:rPr>
                        <a:t>1</a:t>
                      </a:r>
                      <a:endParaRPr sz="1800">
                        <a:latin typeface="Trebuchet MS"/>
                        <a:cs typeface="Trebuchet MS"/>
                      </a:endParaRPr>
                    </a:p>
                  </a:txBody>
                  <a:tcPr marL="0" marR="0" marT="3619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6E7"/>
                    </a:solidFill>
                  </a:tcPr>
                </a:tc>
                <a:tc>
                  <a:txBody>
                    <a:bodyPr/>
                    <a:lstStyle/>
                    <a:p>
                      <a:pPr marL="91440">
                        <a:lnSpc>
                          <a:spcPct val="100000"/>
                        </a:lnSpc>
                        <a:spcBef>
                          <a:spcPts val="284"/>
                        </a:spcBef>
                      </a:pPr>
                      <a:r>
                        <a:rPr sz="1800" spc="-75" dirty="0">
                          <a:solidFill>
                            <a:srgbClr val="2A0499"/>
                          </a:solidFill>
                          <a:latin typeface="Trebuchet MS"/>
                          <a:cs typeface="Trebuchet MS"/>
                        </a:rPr>
                        <a:t>Introduction</a:t>
                      </a:r>
                      <a:endParaRPr sz="1800">
                        <a:latin typeface="Trebuchet MS"/>
                        <a:cs typeface="Trebuchet MS"/>
                      </a:endParaRPr>
                    </a:p>
                  </a:txBody>
                  <a:tcPr marL="0" marR="0" marT="3619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6E7"/>
                    </a:solidFill>
                  </a:tcPr>
                </a:tc>
                <a:tc>
                  <a:txBody>
                    <a:bodyPr/>
                    <a:lstStyle/>
                    <a:p>
                      <a:pPr marR="6350" algn="ctr">
                        <a:lnSpc>
                          <a:spcPct val="100000"/>
                        </a:lnSpc>
                        <a:spcBef>
                          <a:spcPts val="284"/>
                        </a:spcBef>
                      </a:pPr>
                      <a:r>
                        <a:rPr sz="1800" spc="-50" dirty="0">
                          <a:solidFill>
                            <a:srgbClr val="2A0499"/>
                          </a:solidFill>
                          <a:latin typeface="Trebuchet MS"/>
                          <a:cs typeface="Trebuchet MS"/>
                        </a:rPr>
                        <a:t>3</a:t>
                      </a:r>
                      <a:endParaRPr sz="1800">
                        <a:latin typeface="Trebuchet MS"/>
                        <a:cs typeface="Trebuchet MS"/>
                      </a:endParaRPr>
                    </a:p>
                  </a:txBody>
                  <a:tcPr marL="0" marR="0" marT="3619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6E7"/>
                    </a:solidFill>
                  </a:tcPr>
                </a:tc>
                <a:extLst>
                  <a:ext uri="{0D108BD9-81ED-4DB2-BD59-A6C34878D82A}">
                    <a16:rowId xmlns:a16="http://schemas.microsoft.com/office/drawing/2014/main" val="10001"/>
                  </a:ext>
                </a:extLst>
              </a:tr>
              <a:tr h="370205">
                <a:tc>
                  <a:txBody>
                    <a:bodyPr/>
                    <a:lstStyle/>
                    <a:p>
                      <a:pPr marR="8255" algn="ctr">
                        <a:lnSpc>
                          <a:spcPct val="100000"/>
                        </a:lnSpc>
                        <a:spcBef>
                          <a:spcPts val="284"/>
                        </a:spcBef>
                      </a:pPr>
                      <a:r>
                        <a:rPr sz="1800" spc="-50" dirty="0">
                          <a:solidFill>
                            <a:srgbClr val="2A0499"/>
                          </a:solidFill>
                          <a:latin typeface="Trebuchet MS"/>
                          <a:cs typeface="Trebuchet MS"/>
                        </a:rPr>
                        <a:t>2</a:t>
                      </a:r>
                      <a:endParaRPr sz="180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CF4"/>
                    </a:solidFill>
                  </a:tcPr>
                </a:tc>
                <a:tc>
                  <a:txBody>
                    <a:bodyPr/>
                    <a:lstStyle/>
                    <a:p>
                      <a:pPr marL="91440">
                        <a:lnSpc>
                          <a:spcPct val="100000"/>
                        </a:lnSpc>
                        <a:spcBef>
                          <a:spcPts val="284"/>
                        </a:spcBef>
                      </a:pPr>
                      <a:r>
                        <a:rPr sz="1800" spc="-180" dirty="0">
                          <a:solidFill>
                            <a:srgbClr val="2A0499"/>
                          </a:solidFill>
                          <a:latin typeface="Trebuchet MS"/>
                          <a:cs typeface="Trebuchet MS"/>
                        </a:rPr>
                        <a:t>Problem</a:t>
                      </a:r>
                      <a:r>
                        <a:rPr sz="1800" spc="-85" dirty="0">
                          <a:solidFill>
                            <a:srgbClr val="2A0499"/>
                          </a:solidFill>
                          <a:latin typeface="Trebuchet MS"/>
                          <a:cs typeface="Trebuchet MS"/>
                        </a:rPr>
                        <a:t> </a:t>
                      </a:r>
                      <a:r>
                        <a:rPr sz="1800" spc="-190" dirty="0">
                          <a:solidFill>
                            <a:srgbClr val="2A0499"/>
                          </a:solidFill>
                          <a:latin typeface="Trebuchet MS"/>
                          <a:cs typeface="Trebuchet MS"/>
                        </a:rPr>
                        <a:t>identification,</a:t>
                      </a:r>
                      <a:r>
                        <a:rPr sz="1800" spc="-85" dirty="0">
                          <a:solidFill>
                            <a:srgbClr val="2A0499"/>
                          </a:solidFill>
                          <a:latin typeface="Trebuchet MS"/>
                          <a:cs typeface="Trebuchet MS"/>
                        </a:rPr>
                        <a:t> </a:t>
                      </a:r>
                      <a:r>
                        <a:rPr sz="1800" spc="-155" dirty="0">
                          <a:solidFill>
                            <a:srgbClr val="2A0499"/>
                          </a:solidFill>
                          <a:latin typeface="Trebuchet MS"/>
                          <a:cs typeface="Trebuchet MS"/>
                        </a:rPr>
                        <a:t>scope</a:t>
                      </a:r>
                      <a:r>
                        <a:rPr sz="1800" spc="-80" dirty="0">
                          <a:solidFill>
                            <a:srgbClr val="2A0499"/>
                          </a:solidFill>
                          <a:latin typeface="Trebuchet MS"/>
                          <a:cs typeface="Trebuchet MS"/>
                        </a:rPr>
                        <a:t> </a:t>
                      </a:r>
                      <a:r>
                        <a:rPr sz="1800" spc="-180" dirty="0">
                          <a:solidFill>
                            <a:srgbClr val="2A0499"/>
                          </a:solidFill>
                          <a:latin typeface="Trebuchet MS"/>
                          <a:cs typeface="Trebuchet MS"/>
                        </a:rPr>
                        <a:t>and</a:t>
                      </a:r>
                      <a:r>
                        <a:rPr sz="1800" spc="-85" dirty="0">
                          <a:solidFill>
                            <a:srgbClr val="2A0499"/>
                          </a:solidFill>
                          <a:latin typeface="Trebuchet MS"/>
                          <a:cs typeface="Trebuchet MS"/>
                        </a:rPr>
                        <a:t> </a:t>
                      </a:r>
                      <a:r>
                        <a:rPr sz="1800" spc="-75" dirty="0">
                          <a:solidFill>
                            <a:srgbClr val="2A0499"/>
                          </a:solidFill>
                          <a:latin typeface="Trebuchet MS"/>
                          <a:cs typeface="Trebuchet MS"/>
                        </a:rPr>
                        <a:t>objective</a:t>
                      </a:r>
                      <a:endParaRPr sz="180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CF4"/>
                    </a:solidFill>
                  </a:tcPr>
                </a:tc>
                <a:tc>
                  <a:txBody>
                    <a:bodyPr/>
                    <a:lstStyle/>
                    <a:p>
                      <a:pPr marR="635" algn="ctr">
                        <a:lnSpc>
                          <a:spcPct val="100000"/>
                        </a:lnSpc>
                        <a:spcBef>
                          <a:spcPts val="284"/>
                        </a:spcBef>
                      </a:pPr>
                      <a:r>
                        <a:rPr sz="1800" spc="-55" dirty="0">
                          <a:solidFill>
                            <a:srgbClr val="2A0499"/>
                          </a:solidFill>
                          <a:latin typeface="Trebuchet MS"/>
                          <a:cs typeface="Trebuchet MS"/>
                        </a:rPr>
                        <a:t>4-</a:t>
                      </a:r>
                      <a:r>
                        <a:rPr sz="1800" spc="-50" dirty="0">
                          <a:solidFill>
                            <a:srgbClr val="2A0499"/>
                          </a:solidFill>
                          <a:latin typeface="Trebuchet MS"/>
                          <a:cs typeface="Trebuchet MS"/>
                        </a:rPr>
                        <a:t>5</a:t>
                      </a:r>
                      <a:endParaRPr sz="180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CF4"/>
                    </a:solidFill>
                  </a:tcPr>
                </a:tc>
                <a:extLst>
                  <a:ext uri="{0D108BD9-81ED-4DB2-BD59-A6C34878D82A}">
                    <a16:rowId xmlns:a16="http://schemas.microsoft.com/office/drawing/2014/main" val="10002"/>
                  </a:ext>
                </a:extLst>
              </a:tr>
              <a:tr h="370205">
                <a:tc>
                  <a:txBody>
                    <a:bodyPr/>
                    <a:lstStyle/>
                    <a:p>
                      <a:pPr marR="10160" algn="ctr">
                        <a:lnSpc>
                          <a:spcPct val="100000"/>
                        </a:lnSpc>
                        <a:spcBef>
                          <a:spcPts val="284"/>
                        </a:spcBef>
                      </a:pPr>
                      <a:r>
                        <a:rPr sz="1800" spc="-50" dirty="0">
                          <a:solidFill>
                            <a:srgbClr val="2A0499"/>
                          </a:solidFill>
                          <a:latin typeface="Trebuchet MS"/>
                          <a:cs typeface="Trebuchet MS"/>
                        </a:rPr>
                        <a:t>3</a:t>
                      </a:r>
                      <a:endParaRPr sz="180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6E7"/>
                    </a:solidFill>
                  </a:tcPr>
                </a:tc>
                <a:tc>
                  <a:txBody>
                    <a:bodyPr/>
                    <a:lstStyle/>
                    <a:p>
                      <a:pPr marL="91440">
                        <a:lnSpc>
                          <a:spcPct val="100000"/>
                        </a:lnSpc>
                        <a:spcBef>
                          <a:spcPts val="284"/>
                        </a:spcBef>
                      </a:pPr>
                      <a:r>
                        <a:rPr sz="1800" spc="-190" dirty="0">
                          <a:solidFill>
                            <a:srgbClr val="2A0499"/>
                          </a:solidFill>
                          <a:latin typeface="Trebuchet MS"/>
                          <a:cs typeface="Trebuchet MS"/>
                        </a:rPr>
                        <a:t>Literature</a:t>
                      </a:r>
                      <a:r>
                        <a:rPr sz="1800" spc="-65" dirty="0">
                          <a:solidFill>
                            <a:srgbClr val="2A0499"/>
                          </a:solidFill>
                          <a:latin typeface="Trebuchet MS"/>
                          <a:cs typeface="Trebuchet MS"/>
                        </a:rPr>
                        <a:t> </a:t>
                      </a:r>
                      <a:r>
                        <a:rPr sz="1800" spc="-10" dirty="0">
                          <a:solidFill>
                            <a:srgbClr val="2A0499"/>
                          </a:solidFill>
                          <a:latin typeface="Trebuchet MS"/>
                          <a:cs typeface="Trebuchet MS"/>
                        </a:rPr>
                        <a:t>Survey</a:t>
                      </a:r>
                      <a:endParaRPr sz="180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6E7"/>
                    </a:solidFill>
                  </a:tcPr>
                </a:tc>
                <a:tc>
                  <a:txBody>
                    <a:bodyPr/>
                    <a:lstStyle/>
                    <a:p>
                      <a:pPr marR="2540" algn="ctr">
                        <a:lnSpc>
                          <a:spcPct val="100000"/>
                        </a:lnSpc>
                        <a:spcBef>
                          <a:spcPts val="284"/>
                        </a:spcBef>
                      </a:pPr>
                      <a:r>
                        <a:rPr sz="1800" spc="-10" dirty="0">
                          <a:solidFill>
                            <a:srgbClr val="2A0499"/>
                          </a:solidFill>
                          <a:latin typeface="Trebuchet MS"/>
                          <a:cs typeface="Trebuchet MS"/>
                        </a:rPr>
                        <a:t>6-</a:t>
                      </a:r>
                      <a:r>
                        <a:rPr sz="1800" spc="-360" dirty="0">
                          <a:solidFill>
                            <a:srgbClr val="2A0499"/>
                          </a:solidFill>
                          <a:latin typeface="Trebuchet MS"/>
                          <a:cs typeface="Trebuchet MS"/>
                        </a:rPr>
                        <a:t>10</a:t>
                      </a:r>
                      <a:endParaRPr sz="180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6E7"/>
                    </a:solidFill>
                  </a:tcPr>
                </a:tc>
                <a:extLst>
                  <a:ext uri="{0D108BD9-81ED-4DB2-BD59-A6C34878D82A}">
                    <a16:rowId xmlns:a16="http://schemas.microsoft.com/office/drawing/2014/main" val="10003"/>
                  </a:ext>
                </a:extLst>
              </a:tr>
              <a:tr h="370205">
                <a:tc>
                  <a:txBody>
                    <a:bodyPr/>
                    <a:lstStyle/>
                    <a:p>
                      <a:pPr marR="7620" algn="ctr">
                        <a:lnSpc>
                          <a:spcPct val="100000"/>
                        </a:lnSpc>
                        <a:spcBef>
                          <a:spcPts val="284"/>
                        </a:spcBef>
                      </a:pPr>
                      <a:r>
                        <a:rPr sz="1800" spc="-50" dirty="0">
                          <a:solidFill>
                            <a:srgbClr val="2A0499"/>
                          </a:solidFill>
                          <a:latin typeface="Trebuchet MS"/>
                          <a:cs typeface="Trebuchet MS"/>
                        </a:rPr>
                        <a:t>4</a:t>
                      </a:r>
                      <a:endParaRPr sz="180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CF4"/>
                    </a:solidFill>
                  </a:tcPr>
                </a:tc>
                <a:tc>
                  <a:txBody>
                    <a:bodyPr/>
                    <a:lstStyle/>
                    <a:p>
                      <a:pPr marL="91440">
                        <a:lnSpc>
                          <a:spcPct val="100000"/>
                        </a:lnSpc>
                        <a:spcBef>
                          <a:spcPts val="284"/>
                        </a:spcBef>
                      </a:pPr>
                      <a:r>
                        <a:rPr sz="1800" spc="-145" dirty="0">
                          <a:solidFill>
                            <a:srgbClr val="2A0499"/>
                          </a:solidFill>
                          <a:latin typeface="Trebuchet MS"/>
                          <a:cs typeface="Trebuchet MS"/>
                        </a:rPr>
                        <a:t>Existing</a:t>
                      </a:r>
                      <a:r>
                        <a:rPr sz="1800" spc="-95" dirty="0">
                          <a:solidFill>
                            <a:srgbClr val="2A0499"/>
                          </a:solidFill>
                          <a:latin typeface="Trebuchet MS"/>
                          <a:cs typeface="Trebuchet MS"/>
                        </a:rPr>
                        <a:t> </a:t>
                      </a:r>
                      <a:r>
                        <a:rPr sz="1800" spc="-170" dirty="0">
                          <a:solidFill>
                            <a:srgbClr val="2A0499"/>
                          </a:solidFill>
                          <a:latin typeface="Trebuchet MS"/>
                          <a:cs typeface="Trebuchet MS"/>
                        </a:rPr>
                        <a:t>technology</a:t>
                      </a:r>
                      <a:r>
                        <a:rPr sz="1800" spc="-90" dirty="0">
                          <a:solidFill>
                            <a:srgbClr val="2A0499"/>
                          </a:solidFill>
                          <a:latin typeface="Trebuchet MS"/>
                          <a:cs typeface="Trebuchet MS"/>
                        </a:rPr>
                        <a:t> </a:t>
                      </a:r>
                      <a:r>
                        <a:rPr sz="1800" spc="-170" dirty="0">
                          <a:solidFill>
                            <a:srgbClr val="2A0499"/>
                          </a:solidFill>
                          <a:latin typeface="Trebuchet MS"/>
                          <a:cs typeface="Trebuchet MS"/>
                        </a:rPr>
                        <a:t>of</a:t>
                      </a:r>
                      <a:r>
                        <a:rPr sz="1800" spc="-95" dirty="0">
                          <a:solidFill>
                            <a:srgbClr val="2A0499"/>
                          </a:solidFill>
                          <a:latin typeface="Trebuchet MS"/>
                          <a:cs typeface="Trebuchet MS"/>
                        </a:rPr>
                        <a:t> </a:t>
                      </a:r>
                      <a:r>
                        <a:rPr sz="1800" spc="-190" dirty="0">
                          <a:solidFill>
                            <a:srgbClr val="2A0499"/>
                          </a:solidFill>
                          <a:latin typeface="Trebuchet MS"/>
                          <a:cs typeface="Trebuchet MS"/>
                        </a:rPr>
                        <a:t>the</a:t>
                      </a:r>
                      <a:r>
                        <a:rPr sz="1800" spc="-90" dirty="0">
                          <a:solidFill>
                            <a:srgbClr val="2A0499"/>
                          </a:solidFill>
                          <a:latin typeface="Trebuchet MS"/>
                          <a:cs typeface="Trebuchet MS"/>
                        </a:rPr>
                        <a:t> </a:t>
                      </a:r>
                      <a:r>
                        <a:rPr sz="1800" spc="-40" dirty="0">
                          <a:solidFill>
                            <a:srgbClr val="2A0499"/>
                          </a:solidFill>
                          <a:latin typeface="Trebuchet MS"/>
                          <a:cs typeface="Trebuchet MS"/>
                        </a:rPr>
                        <a:t>project</a:t>
                      </a:r>
                      <a:endParaRPr sz="180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CF4"/>
                    </a:solidFill>
                  </a:tcPr>
                </a:tc>
                <a:tc>
                  <a:txBody>
                    <a:bodyPr/>
                    <a:lstStyle/>
                    <a:p>
                      <a:pPr marR="9525" algn="ctr">
                        <a:lnSpc>
                          <a:spcPct val="100000"/>
                        </a:lnSpc>
                        <a:spcBef>
                          <a:spcPts val="284"/>
                        </a:spcBef>
                      </a:pPr>
                      <a:r>
                        <a:rPr sz="1800" spc="-310" dirty="0">
                          <a:solidFill>
                            <a:srgbClr val="2A0499"/>
                          </a:solidFill>
                          <a:latin typeface="Trebuchet MS"/>
                          <a:cs typeface="Trebuchet MS"/>
                        </a:rPr>
                        <a:t>11-</a:t>
                      </a:r>
                      <a:r>
                        <a:rPr sz="1800" spc="-405" dirty="0">
                          <a:solidFill>
                            <a:srgbClr val="2A0499"/>
                          </a:solidFill>
                          <a:latin typeface="Trebuchet MS"/>
                          <a:cs typeface="Trebuchet MS"/>
                        </a:rPr>
                        <a:t>12</a:t>
                      </a:r>
                      <a:endParaRPr sz="180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CF4"/>
                    </a:solidFill>
                  </a:tcPr>
                </a:tc>
                <a:extLst>
                  <a:ext uri="{0D108BD9-81ED-4DB2-BD59-A6C34878D82A}">
                    <a16:rowId xmlns:a16="http://schemas.microsoft.com/office/drawing/2014/main" val="10004"/>
                  </a:ext>
                </a:extLst>
              </a:tr>
              <a:tr h="370205">
                <a:tc>
                  <a:txBody>
                    <a:bodyPr/>
                    <a:lstStyle/>
                    <a:p>
                      <a:pPr marR="8890" algn="ctr">
                        <a:lnSpc>
                          <a:spcPct val="100000"/>
                        </a:lnSpc>
                        <a:spcBef>
                          <a:spcPts val="284"/>
                        </a:spcBef>
                      </a:pPr>
                      <a:r>
                        <a:rPr sz="1800" spc="-50" dirty="0">
                          <a:solidFill>
                            <a:srgbClr val="2A0499"/>
                          </a:solidFill>
                          <a:latin typeface="Trebuchet MS"/>
                          <a:cs typeface="Trebuchet MS"/>
                        </a:rPr>
                        <a:t>5</a:t>
                      </a:r>
                      <a:endParaRPr sz="180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6E7"/>
                    </a:solidFill>
                  </a:tcPr>
                </a:tc>
                <a:tc>
                  <a:txBody>
                    <a:bodyPr/>
                    <a:lstStyle/>
                    <a:p>
                      <a:pPr marL="91440">
                        <a:lnSpc>
                          <a:spcPct val="100000"/>
                        </a:lnSpc>
                        <a:spcBef>
                          <a:spcPts val="284"/>
                        </a:spcBef>
                      </a:pPr>
                      <a:r>
                        <a:rPr sz="1800" spc="-125" dirty="0">
                          <a:solidFill>
                            <a:srgbClr val="2A0499"/>
                          </a:solidFill>
                          <a:latin typeface="Trebuchet MS"/>
                          <a:cs typeface="Trebuchet MS"/>
                        </a:rPr>
                        <a:t>Methodology</a:t>
                      </a:r>
                      <a:r>
                        <a:rPr sz="1800" spc="90" dirty="0">
                          <a:solidFill>
                            <a:srgbClr val="2A0499"/>
                          </a:solidFill>
                          <a:latin typeface="Trebuchet MS"/>
                          <a:cs typeface="Trebuchet MS"/>
                        </a:rPr>
                        <a:t> </a:t>
                      </a:r>
                      <a:r>
                        <a:rPr sz="1800" spc="-235" dirty="0">
                          <a:solidFill>
                            <a:srgbClr val="2A0499"/>
                          </a:solidFill>
                          <a:latin typeface="Trebuchet MS"/>
                          <a:cs typeface="Trebuchet MS"/>
                        </a:rPr>
                        <a:t>&amp;</a:t>
                      </a:r>
                      <a:r>
                        <a:rPr sz="1800" spc="-135" dirty="0">
                          <a:solidFill>
                            <a:srgbClr val="2A0499"/>
                          </a:solidFill>
                          <a:latin typeface="Trebuchet MS"/>
                          <a:cs typeface="Trebuchet MS"/>
                        </a:rPr>
                        <a:t> </a:t>
                      </a:r>
                      <a:r>
                        <a:rPr sz="1800" spc="-185" dirty="0">
                          <a:solidFill>
                            <a:srgbClr val="2A0499"/>
                          </a:solidFill>
                          <a:latin typeface="Trebuchet MS"/>
                          <a:cs typeface="Trebuchet MS"/>
                        </a:rPr>
                        <a:t>Time</a:t>
                      </a:r>
                      <a:r>
                        <a:rPr sz="1800" spc="-135" dirty="0">
                          <a:solidFill>
                            <a:srgbClr val="2A0499"/>
                          </a:solidFill>
                          <a:latin typeface="Trebuchet MS"/>
                          <a:cs typeface="Trebuchet MS"/>
                        </a:rPr>
                        <a:t> </a:t>
                      </a:r>
                      <a:r>
                        <a:rPr sz="1800" spc="-20" dirty="0">
                          <a:solidFill>
                            <a:srgbClr val="2A0499"/>
                          </a:solidFill>
                          <a:latin typeface="Trebuchet MS"/>
                          <a:cs typeface="Trebuchet MS"/>
                        </a:rPr>
                        <a:t>line</a:t>
                      </a:r>
                      <a:endParaRPr sz="180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6E7"/>
                    </a:solidFill>
                  </a:tcPr>
                </a:tc>
                <a:tc>
                  <a:txBody>
                    <a:bodyPr/>
                    <a:lstStyle/>
                    <a:p>
                      <a:pPr marR="13335" algn="ctr">
                        <a:lnSpc>
                          <a:spcPct val="100000"/>
                        </a:lnSpc>
                        <a:spcBef>
                          <a:spcPts val="284"/>
                        </a:spcBef>
                      </a:pPr>
                      <a:r>
                        <a:rPr sz="1800" spc="-225" dirty="0">
                          <a:solidFill>
                            <a:srgbClr val="2A0499"/>
                          </a:solidFill>
                          <a:latin typeface="Trebuchet MS"/>
                          <a:cs typeface="Trebuchet MS"/>
                        </a:rPr>
                        <a:t>13-</a:t>
                      </a:r>
                      <a:r>
                        <a:rPr sz="1800" spc="-405" dirty="0">
                          <a:solidFill>
                            <a:srgbClr val="2A0499"/>
                          </a:solidFill>
                          <a:latin typeface="Trebuchet MS"/>
                          <a:cs typeface="Trebuchet MS"/>
                        </a:rPr>
                        <a:t>14</a:t>
                      </a:r>
                      <a:endParaRPr sz="180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6E7"/>
                    </a:solidFill>
                  </a:tcPr>
                </a:tc>
                <a:extLst>
                  <a:ext uri="{0D108BD9-81ED-4DB2-BD59-A6C34878D82A}">
                    <a16:rowId xmlns:a16="http://schemas.microsoft.com/office/drawing/2014/main" val="10005"/>
                  </a:ext>
                </a:extLst>
              </a:tr>
              <a:tr h="370205">
                <a:tc>
                  <a:txBody>
                    <a:bodyPr/>
                    <a:lstStyle/>
                    <a:p>
                      <a:pPr marR="16510" algn="ctr">
                        <a:lnSpc>
                          <a:spcPct val="100000"/>
                        </a:lnSpc>
                        <a:spcBef>
                          <a:spcPts val="284"/>
                        </a:spcBef>
                      </a:pPr>
                      <a:r>
                        <a:rPr sz="1800" spc="-50" dirty="0">
                          <a:solidFill>
                            <a:srgbClr val="2A0499"/>
                          </a:solidFill>
                          <a:latin typeface="Trebuchet MS"/>
                          <a:cs typeface="Trebuchet MS"/>
                        </a:rPr>
                        <a:t>6</a:t>
                      </a:r>
                      <a:endParaRPr sz="180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CF4"/>
                    </a:solidFill>
                  </a:tcPr>
                </a:tc>
                <a:tc>
                  <a:txBody>
                    <a:bodyPr/>
                    <a:lstStyle/>
                    <a:p>
                      <a:pPr marL="91440">
                        <a:lnSpc>
                          <a:spcPct val="100000"/>
                        </a:lnSpc>
                        <a:spcBef>
                          <a:spcPts val="284"/>
                        </a:spcBef>
                      </a:pPr>
                      <a:r>
                        <a:rPr sz="1800" spc="-165" dirty="0">
                          <a:solidFill>
                            <a:srgbClr val="2A0499"/>
                          </a:solidFill>
                          <a:latin typeface="Trebuchet MS"/>
                          <a:cs typeface="Trebuchet MS"/>
                        </a:rPr>
                        <a:t>Design</a:t>
                      </a:r>
                      <a:r>
                        <a:rPr sz="1800" spc="-85" dirty="0">
                          <a:solidFill>
                            <a:srgbClr val="2A0499"/>
                          </a:solidFill>
                          <a:latin typeface="Trebuchet MS"/>
                          <a:cs typeface="Trebuchet MS"/>
                        </a:rPr>
                        <a:t> </a:t>
                      </a:r>
                      <a:r>
                        <a:rPr sz="1800" spc="-235" dirty="0">
                          <a:solidFill>
                            <a:srgbClr val="2A0499"/>
                          </a:solidFill>
                          <a:latin typeface="Trebuchet MS"/>
                          <a:cs typeface="Trebuchet MS"/>
                        </a:rPr>
                        <a:t>&amp;</a:t>
                      </a:r>
                      <a:r>
                        <a:rPr sz="1800" spc="-80" dirty="0">
                          <a:solidFill>
                            <a:srgbClr val="2A0499"/>
                          </a:solidFill>
                          <a:latin typeface="Trebuchet MS"/>
                          <a:cs typeface="Trebuchet MS"/>
                        </a:rPr>
                        <a:t> </a:t>
                      </a:r>
                      <a:r>
                        <a:rPr sz="1800" spc="-180" dirty="0">
                          <a:solidFill>
                            <a:srgbClr val="2A0499"/>
                          </a:solidFill>
                          <a:latin typeface="Trebuchet MS"/>
                          <a:cs typeface="Trebuchet MS"/>
                        </a:rPr>
                        <a:t>Experimentation</a:t>
                      </a:r>
                      <a:r>
                        <a:rPr sz="1800" spc="-85" dirty="0">
                          <a:solidFill>
                            <a:srgbClr val="2A0499"/>
                          </a:solidFill>
                          <a:latin typeface="Trebuchet MS"/>
                          <a:cs typeface="Trebuchet MS"/>
                        </a:rPr>
                        <a:t> </a:t>
                      </a:r>
                      <a:r>
                        <a:rPr sz="1800" spc="-160" dirty="0">
                          <a:solidFill>
                            <a:srgbClr val="2A0499"/>
                          </a:solidFill>
                          <a:latin typeface="Trebuchet MS"/>
                          <a:cs typeface="Trebuchet MS"/>
                        </a:rPr>
                        <a:t>carried</a:t>
                      </a:r>
                      <a:r>
                        <a:rPr sz="1800" spc="-80" dirty="0">
                          <a:solidFill>
                            <a:srgbClr val="2A0499"/>
                          </a:solidFill>
                          <a:latin typeface="Trebuchet MS"/>
                          <a:cs typeface="Trebuchet MS"/>
                        </a:rPr>
                        <a:t> </a:t>
                      </a:r>
                      <a:r>
                        <a:rPr sz="1800" spc="-150" dirty="0">
                          <a:solidFill>
                            <a:srgbClr val="2A0499"/>
                          </a:solidFill>
                          <a:latin typeface="Trebuchet MS"/>
                          <a:cs typeface="Trebuchet MS"/>
                        </a:rPr>
                        <a:t>during</a:t>
                      </a:r>
                      <a:r>
                        <a:rPr sz="1800" spc="-80" dirty="0">
                          <a:solidFill>
                            <a:srgbClr val="2A0499"/>
                          </a:solidFill>
                          <a:latin typeface="Trebuchet MS"/>
                          <a:cs typeface="Trebuchet MS"/>
                        </a:rPr>
                        <a:t> </a:t>
                      </a:r>
                      <a:r>
                        <a:rPr sz="1800" spc="-190" dirty="0">
                          <a:solidFill>
                            <a:srgbClr val="2A0499"/>
                          </a:solidFill>
                          <a:latin typeface="Trebuchet MS"/>
                          <a:cs typeface="Trebuchet MS"/>
                        </a:rPr>
                        <a:t>the</a:t>
                      </a:r>
                      <a:r>
                        <a:rPr sz="1800" spc="-85" dirty="0">
                          <a:solidFill>
                            <a:srgbClr val="2A0499"/>
                          </a:solidFill>
                          <a:latin typeface="Trebuchet MS"/>
                          <a:cs typeface="Trebuchet MS"/>
                        </a:rPr>
                        <a:t> </a:t>
                      </a:r>
                      <a:r>
                        <a:rPr sz="1800" spc="-170" dirty="0">
                          <a:solidFill>
                            <a:srgbClr val="2A0499"/>
                          </a:solidFill>
                          <a:latin typeface="Trebuchet MS"/>
                          <a:cs typeface="Trebuchet MS"/>
                        </a:rPr>
                        <a:t>review</a:t>
                      </a:r>
                      <a:r>
                        <a:rPr sz="1800" spc="-80" dirty="0">
                          <a:solidFill>
                            <a:srgbClr val="2A0499"/>
                          </a:solidFill>
                          <a:latin typeface="Trebuchet MS"/>
                          <a:cs typeface="Trebuchet MS"/>
                        </a:rPr>
                        <a:t> </a:t>
                      </a:r>
                      <a:r>
                        <a:rPr sz="1800" spc="-10" dirty="0">
                          <a:solidFill>
                            <a:srgbClr val="2A0499"/>
                          </a:solidFill>
                          <a:latin typeface="Trebuchet MS"/>
                          <a:cs typeface="Trebuchet MS"/>
                        </a:rPr>
                        <a:t>period</a:t>
                      </a:r>
                      <a:endParaRPr sz="1800" dirty="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CF4"/>
                    </a:solidFill>
                  </a:tcPr>
                </a:tc>
                <a:tc>
                  <a:txBody>
                    <a:bodyPr/>
                    <a:lstStyle/>
                    <a:p>
                      <a:pPr marR="12065" algn="ctr">
                        <a:lnSpc>
                          <a:spcPct val="100000"/>
                        </a:lnSpc>
                        <a:spcBef>
                          <a:spcPts val="284"/>
                        </a:spcBef>
                      </a:pPr>
                      <a:r>
                        <a:rPr sz="1800" spc="-385" dirty="0">
                          <a:solidFill>
                            <a:srgbClr val="2A0499"/>
                          </a:solidFill>
                          <a:latin typeface="Trebuchet MS"/>
                          <a:cs typeface="Trebuchet MS"/>
                        </a:rPr>
                        <a:t>15</a:t>
                      </a:r>
                      <a:r>
                        <a:rPr sz="1800" spc="-130" dirty="0">
                          <a:solidFill>
                            <a:srgbClr val="2A0499"/>
                          </a:solidFill>
                          <a:latin typeface="Trebuchet MS"/>
                          <a:cs typeface="Trebuchet MS"/>
                        </a:rPr>
                        <a:t> </a:t>
                      </a:r>
                      <a:r>
                        <a:rPr sz="1800" spc="110" dirty="0">
                          <a:solidFill>
                            <a:srgbClr val="2A0499"/>
                          </a:solidFill>
                          <a:latin typeface="Trebuchet MS"/>
                          <a:cs typeface="Trebuchet MS"/>
                        </a:rPr>
                        <a:t>-</a:t>
                      </a:r>
                      <a:r>
                        <a:rPr sz="1800" spc="-130" dirty="0">
                          <a:solidFill>
                            <a:srgbClr val="2A0499"/>
                          </a:solidFill>
                          <a:latin typeface="Trebuchet MS"/>
                          <a:cs typeface="Trebuchet MS"/>
                        </a:rPr>
                        <a:t> </a:t>
                      </a:r>
                      <a:r>
                        <a:rPr sz="1800" spc="-375" dirty="0">
                          <a:solidFill>
                            <a:srgbClr val="2A0499"/>
                          </a:solidFill>
                          <a:latin typeface="Trebuchet MS"/>
                          <a:cs typeface="Trebuchet MS"/>
                        </a:rPr>
                        <a:t>16</a:t>
                      </a:r>
                      <a:endParaRPr sz="180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CF4"/>
                    </a:solidFill>
                  </a:tcPr>
                </a:tc>
                <a:extLst>
                  <a:ext uri="{0D108BD9-81ED-4DB2-BD59-A6C34878D82A}">
                    <a16:rowId xmlns:a16="http://schemas.microsoft.com/office/drawing/2014/main" val="10006"/>
                  </a:ext>
                </a:extLst>
              </a:tr>
              <a:tr h="370205">
                <a:tc>
                  <a:txBody>
                    <a:bodyPr/>
                    <a:lstStyle/>
                    <a:p>
                      <a:pPr marR="17145" algn="ctr">
                        <a:lnSpc>
                          <a:spcPct val="100000"/>
                        </a:lnSpc>
                        <a:spcBef>
                          <a:spcPts val="284"/>
                        </a:spcBef>
                      </a:pPr>
                      <a:r>
                        <a:rPr sz="1800" spc="-50" dirty="0">
                          <a:solidFill>
                            <a:srgbClr val="2A0499"/>
                          </a:solidFill>
                          <a:latin typeface="Trebuchet MS"/>
                          <a:cs typeface="Trebuchet MS"/>
                        </a:rPr>
                        <a:t>7</a:t>
                      </a:r>
                      <a:endParaRPr sz="180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6E7"/>
                    </a:solidFill>
                  </a:tcPr>
                </a:tc>
                <a:tc>
                  <a:txBody>
                    <a:bodyPr/>
                    <a:lstStyle/>
                    <a:p>
                      <a:pPr marL="91440">
                        <a:lnSpc>
                          <a:spcPct val="100000"/>
                        </a:lnSpc>
                        <a:spcBef>
                          <a:spcPts val="284"/>
                        </a:spcBef>
                      </a:pPr>
                      <a:r>
                        <a:rPr sz="1800" spc="-150" dirty="0">
                          <a:solidFill>
                            <a:srgbClr val="2A0499"/>
                          </a:solidFill>
                          <a:latin typeface="Trebuchet MS"/>
                          <a:cs typeface="Trebuchet MS"/>
                        </a:rPr>
                        <a:t>Results</a:t>
                      </a:r>
                      <a:r>
                        <a:rPr sz="1800" spc="-95" dirty="0">
                          <a:solidFill>
                            <a:srgbClr val="2A0499"/>
                          </a:solidFill>
                          <a:latin typeface="Trebuchet MS"/>
                          <a:cs typeface="Trebuchet MS"/>
                        </a:rPr>
                        <a:t> </a:t>
                      </a:r>
                      <a:r>
                        <a:rPr sz="1800" spc="-180" dirty="0">
                          <a:solidFill>
                            <a:srgbClr val="2A0499"/>
                          </a:solidFill>
                          <a:latin typeface="Trebuchet MS"/>
                          <a:cs typeface="Trebuchet MS"/>
                        </a:rPr>
                        <a:t>obtained</a:t>
                      </a:r>
                      <a:r>
                        <a:rPr sz="1800" spc="-90" dirty="0">
                          <a:solidFill>
                            <a:srgbClr val="2A0499"/>
                          </a:solidFill>
                          <a:latin typeface="Trebuchet MS"/>
                          <a:cs typeface="Trebuchet MS"/>
                        </a:rPr>
                        <a:t> </a:t>
                      </a:r>
                      <a:r>
                        <a:rPr sz="1800" spc="-150" dirty="0">
                          <a:solidFill>
                            <a:srgbClr val="2A0499"/>
                          </a:solidFill>
                          <a:latin typeface="Trebuchet MS"/>
                          <a:cs typeface="Trebuchet MS"/>
                        </a:rPr>
                        <a:t>till</a:t>
                      </a:r>
                      <a:r>
                        <a:rPr sz="1800" spc="-90" dirty="0">
                          <a:solidFill>
                            <a:srgbClr val="2A0499"/>
                          </a:solidFill>
                          <a:latin typeface="Trebuchet MS"/>
                          <a:cs typeface="Trebuchet MS"/>
                        </a:rPr>
                        <a:t> </a:t>
                      </a:r>
                      <a:r>
                        <a:rPr sz="1800" spc="-20" dirty="0">
                          <a:solidFill>
                            <a:srgbClr val="2A0499"/>
                          </a:solidFill>
                          <a:latin typeface="Trebuchet MS"/>
                          <a:cs typeface="Trebuchet MS"/>
                        </a:rPr>
                        <a:t>date</a:t>
                      </a:r>
                      <a:endParaRPr sz="1800" dirty="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6E7"/>
                    </a:solidFill>
                  </a:tcPr>
                </a:tc>
                <a:tc>
                  <a:txBody>
                    <a:bodyPr/>
                    <a:lstStyle/>
                    <a:p>
                      <a:pPr marR="8890" algn="ctr">
                        <a:lnSpc>
                          <a:spcPct val="100000"/>
                        </a:lnSpc>
                        <a:spcBef>
                          <a:spcPts val="284"/>
                        </a:spcBef>
                      </a:pPr>
                      <a:r>
                        <a:rPr sz="1800" spc="-355" dirty="0">
                          <a:solidFill>
                            <a:srgbClr val="2A0499"/>
                          </a:solidFill>
                          <a:latin typeface="Trebuchet MS"/>
                          <a:cs typeface="Trebuchet MS"/>
                        </a:rPr>
                        <a:t>17</a:t>
                      </a:r>
                      <a:r>
                        <a:rPr sz="1800" spc="-135" dirty="0">
                          <a:solidFill>
                            <a:srgbClr val="2A0499"/>
                          </a:solidFill>
                          <a:latin typeface="Trebuchet MS"/>
                          <a:cs typeface="Trebuchet MS"/>
                        </a:rPr>
                        <a:t> </a:t>
                      </a:r>
                      <a:r>
                        <a:rPr sz="1800" spc="110" dirty="0">
                          <a:solidFill>
                            <a:srgbClr val="2A0499"/>
                          </a:solidFill>
                          <a:latin typeface="Trebuchet MS"/>
                          <a:cs typeface="Trebuchet MS"/>
                        </a:rPr>
                        <a:t>-</a:t>
                      </a:r>
                      <a:r>
                        <a:rPr sz="1800" spc="-130" dirty="0">
                          <a:solidFill>
                            <a:srgbClr val="2A0499"/>
                          </a:solidFill>
                          <a:latin typeface="Trebuchet MS"/>
                          <a:cs typeface="Trebuchet MS"/>
                        </a:rPr>
                        <a:t> </a:t>
                      </a:r>
                      <a:r>
                        <a:rPr sz="1800" spc="-375" dirty="0">
                          <a:solidFill>
                            <a:srgbClr val="2A0499"/>
                          </a:solidFill>
                          <a:latin typeface="Trebuchet MS"/>
                          <a:cs typeface="Trebuchet MS"/>
                        </a:rPr>
                        <a:t>18</a:t>
                      </a:r>
                      <a:endParaRPr sz="180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6E7"/>
                    </a:solidFill>
                  </a:tcPr>
                </a:tc>
                <a:extLst>
                  <a:ext uri="{0D108BD9-81ED-4DB2-BD59-A6C34878D82A}">
                    <a16:rowId xmlns:a16="http://schemas.microsoft.com/office/drawing/2014/main" val="10007"/>
                  </a:ext>
                </a:extLst>
              </a:tr>
              <a:tr h="370205">
                <a:tc>
                  <a:txBody>
                    <a:bodyPr/>
                    <a:lstStyle/>
                    <a:p>
                      <a:pPr marR="635" algn="ctr">
                        <a:lnSpc>
                          <a:spcPct val="100000"/>
                        </a:lnSpc>
                        <a:spcBef>
                          <a:spcPts val="284"/>
                        </a:spcBef>
                      </a:pPr>
                      <a:r>
                        <a:rPr sz="1800" spc="-50" dirty="0">
                          <a:solidFill>
                            <a:srgbClr val="2A0499"/>
                          </a:solidFill>
                          <a:latin typeface="Trebuchet MS"/>
                          <a:cs typeface="Trebuchet MS"/>
                        </a:rPr>
                        <a:t>8</a:t>
                      </a:r>
                      <a:endParaRPr sz="180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CF4"/>
                    </a:solidFill>
                  </a:tcPr>
                </a:tc>
                <a:tc>
                  <a:txBody>
                    <a:bodyPr/>
                    <a:lstStyle/>
                    <a:p>
                      <a:pPr marL="91440">
                        <a:lnSpc>
                          <a:spcPct val="100000"/>
                        </a:lnSpc>
                        <a:spcBef>
                          <a:spcPts val="284"/>
                        </a:spcBef>
                      </a:pPr>
                      <a:r>
                        <a:rPr sz="1800" spc="-100" dirty="0">
                          <a:solidFill>
                            <a:srgbClr val="2A0499"/>
                          </a:solidFill>
                          <a:latin typeface="Trebuchet MS"/>
                          <a:cs typeface="Trebuchet MS"/>
                        </a:rPr>
                        <a:t>Works</a:t>
                      </a:r>
                      <a:r>
                        <a:rPr sz="1800" spc="-105" dirty="0">
                          <a:solidFill>
                            <a:srgbClr val="2A0499"/>
                          </a:solidFill>
                          <a:latin typeface="Trebuchet MS"/>
                          <a:cs typeface="Trebuchet MS"/>
                        </a:rPr>
                        <a:t> </a:t>
                      </a:r>
                      <a:r>
                        <a:rPr sz="1800" spc="-185" dirty="0">
                          <a:solidFill>
                            <a:srgbClr val="2A0499"/>
                          </a:solidFill>
                          <a:latin typeface="Trebuchet MS"/>
                          <a:cs typeface="Trebuchet MS"/>
                        </a:rPr>
                        <a:t>to</a:t>
                      </a:r>
                      <a:r>
                        <a:rPr sz="1800" spc="-100" dirty="0">
                          <a:solidFill>
                            <a:srgbClr val="2A0499"/>
                          </a:solidFill>
                          <a:latin typeface="Trebuchet MS"/>
                          <a:cs typeface="Trebuchet MS"/>
                        </a:rPr>
                        <a:t> </a:t>
                      </a:r>
                      <a:r>
                        <a:rPr sz="1800" spc="-204" dirty="0">
                          <a:solidFill>
                            <a:srgbClr val="2A0499"/>
                          </a:solidFill>
                          <a:latin typeface="Trebuchet MS"/>
                          <a:cs typeface="Trebuchet MS"/>
                        </a:rPr>
                        <a:t>be</a:t>
                      </a:r>
                      <a:r>
                        <a:rPr sz="1800" spc="-100" dirty="0">
                          <a:solidFill>
                            <a:srgbClr val="2A0499"/>
                          </a:solidFill>
                          <a:latin typeface="Trebuchet MS"/>
                          <a:cs typeface="Trebuchet MS"/>
                        </a:rPr>
                        <a:t> </a:t>
                      </a:r>
                      <a:r>
                        <a:rPr sz="1800" spc="-160" dirty="0">
                          <a:solidFill>
                            <a:srgbClr val="2A0499"/>
                          </a:solidFill>
                          <a:latin typeface="Trebuchet MS"/>
                          <a:cs typeface="Trebuchet MS"/>
                        </a:rPr>
                        <a:t>carried</a:t>
                      </a:r>
                      <a:r>
                        <a:rPr sz="1800" spc="-100" dirty="0">
                          <a:solidFill>
                            <a:srgbClr val="2A0499"/>
                          </a:solidFill>
                          <a:latin typeface="Trebuchet MS"/>
                          <a:cs typeface="Trebuchet MS"/>
                        </a:rPr>
                        <a:t> </a:t>
                      </a:r>
                      <a:r>
                        <a:rPr sz="1800" spc="-25" dirty="0">
                          <a:solidFill>
                            <a:srgbClr val="2A0499"/>
                          </a:solidFill>
                          <a:latin typeface="Trebuchet MS"/>
                          <a:cs typeface="Trebuchet MS"/>
                        </a:rPr>
                        <a:t>out</a:t>
                      </a:r>
                      <a:endParaRPr sz="1800" dirty="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CF4"/>
                    </a:solidFill>
                  </a:tcPr>
                </a:tc>
                <a:tc>
                  <a:txBody>
                    <a:bodyPr/>
                    <a:lstStyle/>
                    <a:p>
                      <a:pPr algn="ctr">
                        <a:lnSpc>
                          <a:spcPct val="100000"/>
                        </a:lnSpc>
                        <a:spcBef>
                          <a:spcPts val="284"/>
                        </a:spcBef>
                      </a:pPr>
                      <a:r>
                        <a:rPr sz="1800" spc="-365" dirty="0">
                          <a:solidFill>
                            <a:srgbClr val="2A0499"/>
                          </a:solidFill>
                          <a:latin typeface="Trebuchet MS"/>
                          <a:cs typeface="Trebuchet MS"/>
                        </a:rPr>
                        <a:t>19</a:t>
                      </a:r>
                      <a:endParaRPr sz="180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CF4"/>
                    </a:solidFill>
                  </a:tcPr>
                </a:tc>
                <a:extLst>
                  <a:ext uri="{0D108BD9-81ED-4DB2-BD59-A6C34878D82A}">
                    <a16:rowId xmlns:a16="http://schemas.microsoft.com/office/drawing/2014/main" val="10008"/>
                  </a:ext>
                </a:extLst>
              </a:tr>
              <a:tr h="370205">
                <a:tc>
                  <a:txBody>
                    <a:bodyPr/>
                    <a:lstStyle/>
                    <a:p>
                      <a:pPr marR="16510" algn="ctr">
                        <a:lnSpc>
                          <a:spcPct val="100000"/>
                        </a:lnSpc>
                        <a:spcBef>
                          <a:spcPts val="284"/>
                        </a:spcBef>
                      </a:pPr>
                      <a:r>
                        <a:rPr sz="1800" spc="-50" dirty="0">
                          <a:solidFill>
                            <a:srgbClr val="2A0499"/>
                          </a:solidFill>
                          <a:latin typeface="Trebuchet MS"/>
                          <a:cs typeface="Trebuchet MS"/>
                        </a:rPr>
                        <a:t>9</a:t>
                      </a:r>
                      <a:endParaRPr sz="180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6E7"/>
                    </a:solidFill>
                  </a:tcPr>
                </a:tc>
                <a:tc>
                  <a:txBody>
                    <a:bodyPr/>
                    <a:lstStyle/>
                    <a:p>
                      <a:pPr marL="91440">
                        <a:lnSpc>
                          <a:spcPct val="100000"/>
                        </a:lnSpc>
                        <a:spcBef>
                          <a:spcPts val="284"/>
                        </a:spcBef>
                      </a:pPr>
                      <a:r>
                        <a:rPr sz="1800" spc="-160" dirty="0">
                          <a:solidFill>
                            <a:srgbClr val="2A0499"/>
                          </a:solidFill>
                          <a:latin typeface="Trebuchet MS"/>
                          <a:cs typeface="Trebuchet MS"/>
                        </a:rPr>
                        <a:t>Proposed</a:t>
                      </a:r>
                      <a:r>
                        <a:rPr sz="1800" spc="-100" dirty="0">
                          <a:solidFill>
                            <a:srgbClr val="2A0499"/>
                          </a:solidFill>
                          <a:latin typeface="Trebuchet MS"/>
                          <a:cs typeface="Trebuchet MS"/>
                        </a:rPr>
                        <a:t> </a:t>
                      </a:r>
                      <a:r>
                        <a:rPr sz="1800" spc="-200" dirty="0">
                          <a:solidFill>
                            <a:srgbClr val="2A0499"/>
                          </a:solidFill>
                          <a:latin typeface="Trebuchet MS"/>
                          <a:cs typeface="Trebuchet MS"/>
                        </a:rPr>
                        <a:t>Outcome</a:t>
                      </a:r>
                      <a:r>
                        <a:rPr sz="1800" spc="-95" dirty="0">
                          <a:solidFill>
                            <a:srgbClr val="2A0499"/>
                          </a:solidFill>
                          <a:latin typeface="Trebuchet MS"/>
                          <a:cs typeface="Trebuchet MS"/>
                        </a:rPr>
                        <a:t> </a:t>
                      </a:r>
                      <a:r>
                        <a:rPr sz="1800" spc="-170" dirty="0">
                          <a:solidFill>
                            <a:srgbClr val="2A0499"/>
                          </a:solidFill>
                          <a:latin typeface="Trebuchet MS"/>
                          <a:cs typeface="Trebuchet MS"/>
                        </a:rPr>
                        <a:t>of</a:t>
                      </a:r>
                      <a:r>
                        <a:rPr sz="1800" spc="-95" dirty="0">
                          <a:solidFill>
                            <a:srgbClr val="2A0499"/>
                          </a:solidFill>
                          <a:latin typeface="Trebuchet MS"/>
                          <a:cs typeface="Trebuchet MS"/>
                        </a:rPr>
                        <a:t> </a:t>
                      </a:r>
                      <a:r>
                        <a:rPr sz="1800" spc="-190" dirty="0">
                          <a:solidFill>
                            <a:srgbClr val="2A0499"/>
                          </a:solidFill>
                          <a:latin typeface="Trebuchet MS"/>
                          <a:cs typeface="Trebuchet MS"/>
                        </a:rPr>
                        <a:t>the</a:t>
                      </a:r>
                      <a:r>
                        <a:rPr sz="1800" spc="-100" dirty="0">
                          <a:solidFill>
                            <a:srgbClr val="2A0499"/>
                          </a:solidFill>
                          <a:latin typeface="Trebuchet MS"/>
                          <a:cs typeface="Trebuchet MS"/>
                        </a:rPr>
                        <a:t> </a:t>
                      </a:r>
                      <a:r>
                        <a:rPr sz="1800" spc="-45" dirty="0">
                          <a:solidFill>
                            <a:srgbClr val="2A0499"/>
                          </a:solidFill>
                          <a:latin typeface="Trebuchet MS"/>
                          <a:cs typeface="Trebuchet MS"/>
                        </a:rPr>
                        <a:t>Projects</a:t>
                      </a:r>
                      <a:endParaRPr sz="1800" dirty="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6E7"/>
                    </a:solidFill>
                  </a:tcPr>
                </a:tc>
                <a:tc>
                  <a:txBody>
                    <a:bodyPr/>
                    <a:lstStyle/>
                    <a:p>
                      <a:pPr algn="ctr">
                        <a:lnSpc>
                          <a:spcPct val="100000"/>
                        </a:lnSpc>
                        <a:spcBef>
                          <a:spcPts val="284"/>
                        </a:spcBef>
                      </a:pPr>
                      <a:r>
                        <a:rPr sz="1800" spc="-25" dirty="0">
                          <a:solidFill>
                            <a:srgbClr val="2A0499"/>
                          </a:solidFill>
                          <a:latin typeface="Trebuchet MS"/>
                          <a:cs typeface="Trebuchet MS"/>
                        </a:rPr>
                        <a:t>20</a:t>
                      </a:r>
                      <a:endParaRPr sz="180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6E7"/>
                    </a:solidFill>
                  </a:tcPr>
                </a:tc>
                <a:extLst>
                  <a:ext uri="{0D108BD9-81ED-4DB2-BD59-A6C34878D82A}">
                    <a16:rowId xmlns:a16="http://schemas.microsoft.com/office/drawing/2014/main" val="10009"/>
                  </a:ext>
                </a:extLst>
              </a:tr>
              <a:tr h="643255">
                <a:tc>
                  <a:txBody>
                    <a:bodyPr/>
                    <a:lstStyle/>
                    <a:p>
                      <a:pPr marR="1905" algn="ctr">
                        <a:lnSpc>
                          <a:spcPct val="100000"/>
                        </a:lnSpc>
                        <a:spcBef>
                          <a:spcPts val="284"/>
                        </a:spcBef>
                      </a:pPr>
                      <a:r>
                        <a:rPr sz="1800" spc="-360" dirty="0">
                          <a:solidFill>
                            <a:srgbClr val="2A0499"/>
                          </a:solidFill>
                          <a:latin typeface="Trebuchet MS"/>
                          <a:cs typeface="Trebuchet MS"/>
                        </a:rPr>
                        <a:t>10</a:t>
                      </a:r>
                      <a:endParaRPr sz="180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CF4"/>
                    </a:solidFill>
                  </a:tcPr>
                </a:tc>
                <a:tc>
                  <a:txBody>
                    <a:bodyPr/>
                    <a:lstStyle/>
                    <a:p>
                      <a:pPr marL="91440">
                        <a:lnSpc>
                          <a:spcPct val="100000"/>
                        </a:lnSpc>
                        <a:spcBef>
                          <a:spcPts val="284"/>
                        </a:spcBef>
                      </a:pPr>
                      <a:r>
                        <a:rPr sz="1800" spc="-170" dirty="0">
                          <a:solidFill>
                            <a:srgbClr val="2A0499"/>
                          </a:solidFill>
                          <a:latin typeface="Trebuchet MS"/>
                          <a:cs typeface="Trebuchet MS"/>
                        </a:rPr>
                        <a:t>Participation</a:t>
                      </a:r>
                      <a:r>
                        <a:rPr sz="1800" spc="-100" dirty="0">
                          <a:solidFill>
                            <a:srgbClr val="2A0499"/>
                          </a:solidFill>
                          <a:latin typeface="Trebuchet MS"/>
                          <a:cs typeface="Trebuchet MS"/>
                        </a:rPr>
                        <a:t> </a:t>
                      </a:r>
                      <a:r>
                        <a:rPr sz="1800" spc="-140" dirty="0">
                          <a:solidFill>
                            <a:srgbClr val="2A0499"/>
                          </a:solidFill>
                          <a:latin typeface="Trebuchet MS"/>
                          <a:cs typeface="Trebuchet MS"/>
                        </a:rPr>
                        <a:t>in</a:t>
                      </a:r>
                      <a:r>
                        <a:rPr sz="1800" spc="-95" dirty="0">
                          <a:solidFill>
                            <a:srgbClr val="2A0499"/>
                          </a:solidFill>
                          <a:latin typeface="Trebuchet MS"/>
                          <a:cs typeface="Trebuchet MS"/>
                        </a:rPr>
                        <a:t> </a:t>
                      </a:r>
                      <a:r>
                        <a:rPr sz="1800" spc="-185" dirty="0">
                          <a:solidFill>
                            <a:srgbClr val="2A0499"/>
                          </a:solidFill>
                          <a:latin typeface="Trebuchet MS"/>
                          <a:cs typeface="Trebuchet MS"/>
                        </a:rPr>
                        <a:t>events</a:t>
                      </a:r>
                      <a:r>
                        <a:rPr sz="1800" spc="-100" dirty="0">
                          <a:solidFill>
                            <a:srgbClr val="2A0499"/>
                          </a:solidFill>
                          <a:latin typeface="Trebuchet MS"/>
                          <a:cs typeface="Trebuchet MS"/>
                        </a:rPr>
                        <a:t> </a:t>
                      </a:r>
                      <a:r>
                        <a:rPr sz="1800" spc="-254" dirty="0">
                          <a:solidFill>
                            <a:srgbClr val="2A0499"/>
                          </a:solidFill>
                          <a:latin typeface="Trebuchet MS"/>
                          <a:cs typeface="Trebuchet MS"/>
                        </a:rPr>
                        <a:t>(Patent,</a:t>
                      </a:r>
                      <a:r>
                        <a:rPr sz="1800" spc="-95" dirty="0">
                          <a:solidFill>
                            <a:srgbClr val="2A0499"/>
                          </a:solidFill>
                          <a:latin typeface="Trebuchet MS"/>
                          <a:cs typeface="Trebuchet MS"/>
                        </a:rPr>
                        <a:t> </a:t>
                      </a:r>
                      <a:r>
                        <a:rPr sz="1800" spc="-245" dirty="0">
                          <a:solidFill>
                            <a:srgbClr val="2A0499"/>
                          </a:solidFill>
                          <a:latin typeface="Trebuchet MS"/>
                          <a:cs typeface="Trebuchet MS"/>
                        </a:rPr>
                        <a:t>Paper,</a:t>
                      </a:r>
                      <a:r>
                        <a:rPr sz="1800" spc="-100" dirty="0">
                          <a:solidFill>
                            <a:srgbClr val="2A0499"/>
                          </a:solidFill>
                          <a:latin typeface="Trebuchet MS"/>
                          <a:cs typeface="Trebuchet MS"/>
                        </a:rPr>
                        <a:t> </a:t>
                      </a:r>
                      <a:r>
                        <a:rPr sz="1800" spc="-180" dirty="0">
                          <a:solidFill>
                            <a:srgbClr val="2A0499"/>
                          </a:solidFill>
                          <a:latin typeface="Trebuchet MS"/>
                          <a:cs typeface="Trebuchet MS"/>
                        </a:rPr>
                        <a:t>Hackatons</a:t>
                      </a:r>
                      <a:r>
                        <a:rPr sz="1800" spc="-95" dirty="0">
                          <a:solidFill>
                            <a:srgbClr val="2A0499"/>
                          </a:solidFill>
                          <a:latin typeface="Trebuchet MS"/>
                          <a:cs typeface="Trebuchet MS"/>
                        </a:rPr>
                        <a:t> </a:t>
                      </a:r>
                      <a:r>
                        <a:rPr sz="1800" spc="-300" dirty="0">
                          <a:solidFill>
                            <a:srgbClr val="2A0499"/>
                          </a:solidFill>
                          <a:latin typeface="Trebuchet MS"/>
                          <a:cs typeface="Trebuchet MS"/>
                        </a:rPr>
                        <a:t>etc.,)</a:t>
                      </a:r>
                      <a:r>
                        <a:rPr sz="1800" spc="-100" dirty="0">
                          <a:solidFill>
                            <a:srgbClr val="2A0499"/>
                          </a:solidFill>
                          <a:latin typeface="Trebuchet MS"/>
                          <a:cs typeface="Trebuchet MS"/>
                        </a:rPr>
                        <a:t> </a:t>
                      </a:r>
                      <a:r>
                        <a:rPr sz="1700" spc="185" dirty="0">
                          <a:solidFill>
                            <a:srgbClr val="2A0499"/>
                          </a:solidFill>
                          <a:latin typeface="Arial MT"/>
                          <a:cs typeface="Arial MT"/>
                        </a:rPr>
                        <a:t>–</a:t>
                      </a:r>
                      <a:endParaRPr sz="1700" dirty="0">
                        <a:latin typeface="Arial MT"/>
                        <a:cs typeface="Arial MT"/>
                      </a:endParaRPr>
                    </a:p>
                    <a:p>
                      <a:pPr marL="91440">
                        <a:lnSpc>
                          <a:spcPct val="100000"/>
                        </a:lnSpc>
                        <a:spcBef>
                          <a:spcPts val="15"/>
                        </a:spcBef>
                      </a:pPr>
                      <a:r>
                        <a:rPr sz="1800" spc="-180" dirty="0">
                          <a:solidFill>
                            <a:srgbClr val="2A0499"/>
                          </a:solidFill>
                          <a:latin typeface="Trebuchet MS"/>
                          <a:cs typeface="Trebuchet MS"/>
                        </a:rPr>
                        <a:t>applied</a:t>
                      </a:r>
                      <a:r>
                        <a:rPr sz="1800" spc="-100" dirty="0">
                          <a:solidFill>
                            <a:srgbClr val="2A0499"/>
                          </a:solidFill>
                          <a:latin typeface="Trebuchet MS"/>
                          <a:cs typeface="Trebuchet MS"/>
                        </a:rPr>
                        <a:t> </a:t>
                      </a:r>
                      <a:r>
                        <a:rPr sz="1800" spc="-235" dirty="0">
                          <a:solidFill>
                            <a:srgbClr val="2A0499"/>
                          </a:solidFill>
                          <a:latin typeface="Trebuchet MS"/>
                          <a:cs typeface="Trebuchet MS"/>
                        </a:rPr>
                        <a:t>/</a:t>
                      </a:r>
                      <a:r>
                        <a:rPr sz="1800" spc="-100" dirty="0">
                          <a:solidFill>
                            <a:srgbClr val="2A0499"/>
                          </a:solidFill>
                          <a:latin typeface="Trebuchet MS"/>
                          <a:cs typeface="Trebuchet MS"/>
                        </a:rPr>
                        <a:t> </a:t>
                      </a:r>
                      <a:r>
                        <a:rPr sz="1800" spc="-155" dirty="0">
                          <a:solidFill>
                            <a:srgbClr val="2A0499"/>
                          </a:solidFill>
                          <a:latin typeface="Trebuchet MS"/>
                          <a:cs typeface="Trebuchet MS"/>
                        </a:rPr>
                        <a:t>published</a:t>
                      </a:r>
                      <a:r>
                        <a:rPr sz="1800" spc="-100" dirty="0">
                          <a:solidFill>
                            <a:srgbClr val="2A0499"/>
                          </a:solidFill>
                          <a:latin typeface="Trebuchet MS"/>
                          <a:cs typeface="Trebuchet MS"/>
                        </a:rPr>
                        <a:t> </a:t>
                      </a:r>
                      <a:r>
                        <a:rPr sz="1800" spc="-235" dirty="0">
                          <a:solidFill>
                            <a:srgbClr val="2A0499"/>
                          </a:solidFill>
                          <a:latin typeface="Trebuchet MS"/>
                          <a:cs typeface="Trebuchet MS"/>
                        </a:rPr>
                        <a:t>/</a:t>
                      </a:r>
                      <a:r>
                        <a:rPr sz="1800" spc="-100" dirty="0">
                          <a:solidFill>
                            <a:srgbClr val="2A0499"/>
                          </a:solidFill>
                          <a:latin typeface="Trebuchet MS"/>
                          <a:cs typeface="Trebuchet MS"/>
                        </a:rPr>
                        <a:t> </a:t>
                      </a:r>
                      <a:r>
                        <a:rPr sz="1800" spc="-40" dirty="0">
                          <a:solidFill>
                            <a:srgbClr val="2A0499"/>
                          </a:solidFill>
                          <a:latin typeface="Trebuchet MS"/>
                          <a:cs typeface="Trebuchet MS"/>
                        </a:rPr>
                        <a:t>granted</a:t>
                      </a:r>
                      <a:endParaRPr sz="1800" dirty="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CF4"/>
                    </a:solidFill>
                  </a:tcPr>
                </a:tc>
                <a:tc>
                  <a:txBody>
                    <a:bodyPr/>
                    <a:lstStyle/>
                    <a:p>
                      <a:pPr marR="7620" algn="ctr">
                        <a:lnSpc>
                          <a:spcPct val="100000"/>
                        </a:lnSpc>
                        <a:spcBef>
                          <a:spcPts val="284"/>
                        </a:spcBef>
                      </a:pPr>
                      <a:r>
                        <a:rPr sz="1800" spc="-395" dirty="0">
                          <a:solidFill>
                            <a:srgbClr val="2A0499"/>
                          </a:solidFill>
                          <a:latin typeface="Trebuchet MS"/>
                          <a:cs typeface="Trebuchet MS"/>
                        </a:rPr>
                        <a:t>21</a:t>
                      </a:r>
                      <a:endParaRPr sz="180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CF4"/>
                    </a:solidFill>
                  </a:tcPr>
                </a:tc>
                <a:extLst>
                  <a:ext uri="{0D108BD9-81ED-4DB2-BD59-A6C34878D82A}">
                    <a16:rowId xmlns:a16="http://schemas.microsoft.com/office/drawing/2014/main" val="10010"/>
                  </a:ext>
                </a:extLst>
              </a:tr>
              <a:tr h="370205">
                <a:tc>
                  <a:txBody>
                    <a:bodyPr/>
                    <a:lstStyle/>
                    <a:p>
                      <a:pPr marR="10795" algn="ctr">
                        <a:lnSpc>
                          <a:spcPct val="100000"/>
                        </a:lnSpc>
                        <a:spcBef>
                          <a:spcPts val="284"/>
                        </a:spcBef>
                      </a:pPr>
                      <a:r>
                        <a:rPr sz="1800" spc="-545" dirty="0">
                          <a:solidFill>
                            <a:srgbClr val="2A0499"/>
                          </a:solidFill>
                          <a:latin typeface="Trebuchet MS"/>
                          <a:cs typeface="Trebuchet MS"/>
                        </a:rPr>
                        <a:t>11</a:t>
                      </a:r>
                      <a:endParaRPr sz="180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6E7"/>
                    </a:solidFill>
                  </a:tcPr>
                </a:tc>
                <a:tc>
                  <a:txBody>
                    <a:bodyPr/>
                    <a:lstStyle/>
                    <a:p>
                      <a:pPr marL="91440">
                        <a:lnSpc>
                          <a:spcPct val="100000"/>
                        </a:lnSpc>
                        <a:spcBef>
                          <a:spcPts val="284"/>
                        </a:spcBef>
                      </a:pPr>
                      <a:r>
                        <a:rPr sz="1800" spc="-95" dirty="0">
                          <a:solidFill>
                            <a:srgbClr val="2A0499"/>
                          </a:solidFill>
                          <a:latin typeface="Trebuchet MS"/>
                          <a:cs typeface="Trebuchet MS"/>
                        </a:rPr>
                        <a:t>References</a:t>
                      </a:r>
                      <a:endParaRPr sz="1800" dirty="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6E7"/>
                    </a:solidFill>
                  </a:tcPr>
                </a:tc>
                <a:tc>
                  <a:txBody>
                    <a:bodyPr/>
                    <a:lstStyle/>
                    <a:p>
                      <a:pPr marR="3810" algn="ctr">
                        <a:lnSpc>
                          <a:spcPct val="100000"/>
                        </a:lnSpc>
                        <a:spcBef>
                          <a:spcPts val="284"/>
                        </a:spcBef>
                      </a:pPr>
                      <a:r>
                        <a:rPr sz="1800" spc="-25" dirty="0">
                          <a:solidFill>
                            <a:srgbClr val="2A0499"/>
                          </a:solidFill>
                          <a:latin typeface="Trebuchet MS"/>
                          <a:cs typeface="Trebuchet MS"/>
                        </a:rPr>
                        <a:t>22</a:t>
                      </a:r>
                      <a:endParaRPr sz="1800" dirty="0">
                        <a:latin typeface="Trebuchet MS"/>
                        <a:cs typeface="Trebuchet MS"/>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6E7"/>
                    </a:solidFill>
                  </a:tcPr>
                </a:tc>
                <a:extLst>
                  <a:ext uri="{0D108BD9-81ED-4DB2-BD59-A6C34878D82A}">
                    <a16:rowId xmlns:a16="http://schemas.microsoft.com/office/drawing/2014/main" val="10011"/>
                  </a:ext>
                </a:extLst>
              </a:tr>
            </a:tbl>
          </a:graphicData>
        </a:graphic>
      </p:graphicFrame>
      <p:sp>
        <p:nvSpPr>
          <p:cNvPr id="4" name="object 4"/>
          <p:cNvSpPr/>
          <p:nvPr/>
        </p:nvSpPr>
        <p:spPr>
          <a:xfrm>
            <a:off x="780635" y="1556358"/>
            <a:ext cx="353060" cy="146685"/>
          </a:xfrm>
          <a:custGeom>
            <a:avLst/>
            <a:gdLst/>
            <a:ahLst/>
            <a:cxnLst/>
            <a:rect l="l" t="t" r="r" b="b"/>
            <a:pathLst>
              <a:path w="353059" h="146685">
                <a:moveTo>
                  <a:pt x="95847" y="130764"/>
                </a:moveTo>
                <a:lnTo>
                  <a:pt x="55364" y="130764"/>
                </a:lnTo>
                <a:lnTo>
                  <a:pt x="58508" y="130224"/>
                </a:lnTo>
                <a:lnTo>
                  <a:pt x="64535" y="128066"/>
                </a:lnTo>
                <a:lnTo>
                  <a:pt x="66954" y="126578"/>
                </a:lnTo>
                <a:lnTo>
                  <a:pt x="70637" y="122745"/>
                </a:lnTo>
                <a:lnTo>
                  <a:pt x="71445" y="120904"/>
                </a:lnTo>
                <a:lnTo>
                  <a:pt x="71567" y="113667"/>
                </a:lnTo>
                <a:lnTo>
                  <a:pt x="68739" y="108737"/>
                </a:lnTo>
                <a:lnTo>
                  <a:pt x="28063" y="80255"/>
                </a:lnTo>
                <a:lnTo>
                  <a:pt x="21840" y="75790"/>
                </a:lnTo>
                <a:lnTo>
                  <a:pt x="4116" y="46304"/>
                </a:lnTo>
                <a:lnTo>
                  <a:pt x="3995" y="44555"/>
                </a:lnTo>
                <a:lnTo>
                  <a:pt x="3900" y="43197"/>
                </a:lnTo>
                <a:lnTo>
                  <a:pt x="3800" y="39365"/>
                </a:lnTo>
                <a:lnTo>
                  <a:pt x="4528" y="32077"/>
                </a:lnTo>
                <a:lnTo>
                  <a:pt x="32179" y="3167"/>
                </a:lnTo>
                <a:lnTo>
                  <a:pt x="51364" y="0"/>
                </a:lnTo>
                <a:lnTo>
                  <a:pt x="55271" y="0"/>
                </a:lnTo>
                <a:lnTo>
                  <a:pt x="93527" y="14454"/>
                </a:lnTo>
                <a:lnTo>
                  <a:pt x="48071" y="14454"/>
                </a:lnTo>
                <a:lnTo>
                  <a:pt x="45169" y="15031"/>
                </a:lnTo>
                <a:lnTo>
                  <a:pt x="42753" y="16166"/>
                </a:lnTo>
                <a:lnTo>
                  <a:pt x="40421" y="17226"/>
                </a:lnTo>
                <a:lnTo>
                  <a:pt x="39695" y="17789"/>
                </a:lnTo>
                <a:lnTo>
                  <a:pt x="38286" y="19012"/>
                </a:lnTo>
                <a:lnTo>
                  <a:pt x="35309" y="23589"/>
                </a:lnTo>
                <a:lnTo>
                  <a:pt x="34509" y="26491"/>
                </a:lnTo>
                <a:lnTo>
                  <a:pt x="34397" y="30026"/>
                </a:lnTo>
                <a:lnTo>
                  <a:pt x="34137" y="34974"/>
                </a:lnTo>
                <a:lnTo>
                  <a:pt x="70929" y="63993"/>
                </a:lnTo>
                <a:lnTo>
                  <a:pt x="80902" y="70572"/>
                </a:lnTo>
                <a:lnTo>
                  <a:pt x="104635" y="100786"/>
                </a:lnTo>
                <a:lnTo>
                  <a:pt x="105277" y="108049"/>
                </a:lnTo>
                <a:lnTo>
                  <a:pt x="105277" y="114560"/>
                </a:lnTo>
                <a:lnTo>
                  <a:pt x="103491" y="120327"/>
                </a:lnTo>
                <a:lnTo>
                  <a:pt x="96427" y="130224"/>
                </a:lnTo>
                <a:lnTo>
                  <a:pt x="95847" y="130764"/>
                </a:lnTo>
                <a:close/>
              </a:path>
              <a:path w="353059" h="146685">
                <a:moveTo>
                  <a:pt x="87449" y="48201"/>
                </a:moveTo>
                <a:lnTo>
                  <a:pt x="84366" y="48201"/>
                </a:lnTo>
                <a:lnTo>
                  <a:pt x="81390" y="47271"/>
                </a:lnTo>
                <a:lnTo>
                  <a:pt x="78413" y="46304"/>
                </a:lnTo>
                <a:lnTo>
                  <a:pt x="75809" y="44555"/>
                </a:lnTo>
                <a:lnTo>
                  <a:pt x="71344" y="39495"/>
                </a:lnTo>
                <a:lnTo>
                  <a:pt x="70228" y="36500"/>
                </a:lnTo>
                <a:lnTo>
                  <a:pt x="70228" y="27458"/>
                </a:lnTo>
                <a:lnTo>
                  <a:pt x="68349" y="22975"/>
                </a:lnTo>
                <a:lnTo>
                  <a:pt x="64591" y="19589"/>
                </a:lnTo>
                <a:lnTo>
                  <a:pt x="60870" y="16166"/>
                </a:lnTo>
                <a:lnTo>
                  <a:pt x="56480" y="14454"/>
                </a:lnTo>
                <a:lnTo>
                  <a:pt x="93527" y="14454"/>
                </a:lnTo>
                <a:lnTo>
                  <a:pt x="96756" y="17226"/>
                </a:lnTo>
                <a:lnTo>
                  <a:pt x="99640" y="21468"/>
                </a:lnTo>
                <a:lnTo>
                  <a:pt x="102691" y="30919"/>
                </a:lnTo>
                <a:lnTo>
                  <a:pt x="102652" y="32077"/>
                </a:lnTo>
                <a:lnTo>
                  <a:pt x="102542" y="35328"/>
                </a:lnTo>
                <a:lnTo>
                  <a:pt x="99007" y="43774"/>
                </a:lnTo>
                <a:lnTo>
                  <a:pt x="95533" y="46304"/>
                </a:lnTo>
                <a:lnTo>
                  <a:pt x="95949" y="46304"/>
                </a:lnTo>
                <a:lnTo>
                  <a:pt x="89873" y="47494"/>
                </a:lnTo>
                <a:lnTo>
                  <a:pt x="87449" y="48201"/>
                </a:lnTo>
                <a:close/>
              </a:path>
              <a:path w="353059" h="146685">
                <a:moveTo>
                  <a:pt x="57968" y="144995"/>
                </a:moveTo>
                <a:lnTo>
                  <a:pt x="47290" y="144995"/>
                </a:lnTo>
                <a:lnTo>
                  <a:pt x="42416" y="144493"/>
                </a:lnTo>
                <a:lnTo>
                  <a:pt x="5618" y="126578"/>
                </a:lnTo>
                <a:lnTo>
                  <a:pt x="0" y="108532"/>
                </a:lnTo>
                <a:lnTo>
                  <a:pt x="3497" y="100198"/>
                </a:lnTo>
                <a:lnTo>
                  <a:pt x="7143" y="97445"/>
                </a:lnTo>
                <a:lnTo>
                  <a:pt x="12687" y="96105"/>
                </a:lnTo>
                <a:lnTo>
                  <a:pt x="17003" y="95138"/>
                </a:lnTo>
                <a:lnTo>
                  <a:pt x="21356" y="96105"/>
                </a:lnTo>
                <a:lnTo>
                  <a:pt x="30137" y="101872"/>
                </a:lnTo>
                <a:lnTo>
                  <a:pt x="32332" y="105798"/>
                </a:lnTo>
                <a:lnTo>
                  <a:pt x="32332" y="116216"/>
                </a:lnTo>
                <a:lnTo>
                  <a:pt x="34309" y="120625"/>
                </a:lnTo>
                <a:lnTo>
                  <a:pt x="34435" y="120904"/>
                </a:lnTo>
                <a:lnTo>
                  <a:pt x="42843" y="128792"/>
                </a:lnTo>
                <a:lnTo>
                  <a:pt x="47327" y="130764"/>
                </a:lnTo>
                <a:lnTo>
                  <a:pt x="95847" y="130764"/>
                </a:lnTo>
                <a:lnTo>
                  <a:pt x="91845" y="134187"/>
                </a:lnTo>
                <a:lnTo>
                  <a:pt x="81018" y="139582"/>
                </a:lnTo>
                <a:lnTo>
                  <a:pt x="75418" y="141609"/>
                </a:lnTo>
                <a:lnTo>
                  <a:pt x="63810" y="144326"/>
                </a:lnTo>
                <a:lnTo>
                  <a:pt x="57968" y="144995"/>
                </a:lnTo>
                <a:close/>
              </a:path>
              <a:path w="353059" h="146685">
                <a:moveTo>
                  <a:pt x="125418" y="146112"/>
                </a:moveTo>
                <a:lnTo>
                  <a:pt x="117084" y="146112"/>
                </a:lnTo>
                <a:lnTo>
                  <a:pt x="113400" y="144623"/>
                </a:lnTo>
                <a:lnTo>
                  <a:pt x="107150" y="138670"/>
                </a:lnTo>
                <a:lnTo>
                  <a:pt x="105652" y="135228"/>
                </a:lnTo>
                <a:lnTo>
                  <a:pt x="105587" y="126596"/>
                </a:lnTo>
                <a:lnTo>
                  <a:pt x="107131" y="122913"/>
                </a:lnTo>
                <a:lnTo>
                  <a:pt x="110219" y="119825"/>
                </a:lnTo>
                <a:lnTo>
                  <a:pt x="113345" y="116737"/>
                </a:lnTo>
                <a:lnTo>
                  <a:pt x="117047" y="115192"/>
                </a:lnTo>
                <a:lnTo>
                  <a:pt x="123521" y="115192"/>
                </a:lnTo>
                <a:lnTo>
                  <a:pt x="125530" y="115639"/>
                </a:lnTo>
                <a:lnTo>
                  <a:pt x="127353" y="116532"/>
                </a:lnTo>
                <a:lnTo>
                  <a:pt x="129213" y="117388"/>
                </a:lnTo>
                <a:lnTo>
                  <a:pt x="130813" y="118504"/>
                </a:lnTo>
                <a:lnTo>
                  <a:pt x="132098" y="119825"/>
                </a:lnTo>
                <a:lnTo>
                  <a:pt x="133529" y="121257"/>
                </a:lnTo>
                <a:lnTo>
                  <a:pt x="134608" y="122913"/>
                </a:lnTo>
                <a:lnTo>
                  <a:pt x="136110" y="126596"/>
                </a:lnTo>
                <a:lnTo>
                  <a:pt x="136171" y="126745"/>
                </a:lnTo>
                <a:lnTo>
                  <a:pt x="136562" y="128754"/>
                </a:lnTo>
                <a:lnTo>
                  <a:pt x="136562" y="135228"/>
                </a:lnTo>
                <a:lnTo>
                  <a:pt x="135114" y="138670"/>
                </a:lnTo>
                <a:lnTo>
                  <a:pt x="135036" y="138856"/>
                </a:lnTo>
                <a:lnTo>
                  <a:pt x="131985" y="141758"/>
                </a:lnTo>
                <a:lnTo>
                  <a:pt x="129010" y="144623"/>
                </a:lnTo>
                <a:lnTo>
                  <a:pt x="125418" y="146112"/>
                </a:lnTo>
                <a:close/>
              </a:path>
              <a:path w="353059" h="146685">
                <a:moveTo>
                  <a:pt x="160157" y="133443"/>
                </a:moveTo>
                <a:lnTo>
                  <a:pt x="144365" y="133443"/>
                </a:lnTo>
                <a:lnTo>
                  <a:pt x="144581" y="133126"/>
                </a:lnTo>
                <a:lnTo>
                  <a:pt x="144772" y="132754"/>
                </a:lnTo>
                <a:lnTo>
                  <a:pt x="144807" y="12836"/>
                </a:lnTo>
                <a:lnTo>
                  <a:pt x="144504" y="11776"/>
                </a:lnTo>
                <a:lnTo>
                  <a:pt x="144679" y="11776"/>
                </a:lnTo>
                <a:lnTo>
                  <a:pt x="144009" y="11273"/>
                </a:lnTo>
                <a:lnTo>
                  <a:pt x="139172" y="11273"/>
                </a:lnTo>
                <a:lnTo>
                  <a:pt x="137145" y="9543"/>
                </a:lnTo>
                <a:lnTo>
                  <a:pt x="137145" y="2027"/>
                </a:lnTo>
                <a:lnTo>
                  <a:pt x="139172" y="0"/>
                </a:lnTo>
                <a:lnTo>
                  <a:pt x="177551" y="0"/>
                </a:lnTo>
                <a:lnTo>
                  <a:pt x="196670" y="40183"/>
                </a:lnTo>
                <a:lnTo>
                  <a:pt x="159580" y="40183"/>
                </a:lnTo>
                <a:lnTo>
                  <a:pt x="159655" y="132047"/>
                </a:lnTo>
                <a:lnTo>
                  <a:pt x="159804" y="132605"/>
                </a:lnTo>
                <a:lnTo>
                  <a:pt x="159990" y="133126"/>
                </a:lnTo>
                <a:lnTo>
                  <a:pt x="160157" y="133443"/>
                </a:lnTo>
                <a:close/>
              </a:path>
              <a:path w="353059" h="146685">
                <a:moveTo>
                  <a:pt x="245101" y="11273"/>
                </a:moveTo>
                <a:lnTo>
                  <a:pt x="223856" y="11273"/>
                </a:lnTo>
                <a:lnTo>
                  <a:pt x="222553" y="10790"/>
                </a:lnTo>
                <a:lnTo>
                  <a:pt x="221363" y="9822"/>
                </a:lnTo>
                <a:lnTo>
                  <a:pt x="220209" y="8818"/>
                </a:lnTo>
                <a:lnTo>
                  <a:pt x="219633" y="7571"/>
                </a:lnTo>
                <a:lnTo>
                  <a:pt x="219633" y="2027"/>
                </a:lnTo>
                <a:lnTo>
                  <a:pt x="221512" y="0"/>
                </a:lnTo>
                <a:lnTo>
                  <a:pt x="247705" y="0"/>
                </a:lnTo>
                <a:lnTo>
                  <a:pt x="249659" y="2027"/>
                </a:lnTo>
                <a:lnTo>
                  <a:pt x="249659" y="7571"/>
                </a:lnTo>
                <a:lnTo>
                  <a:pt x="249075" y="8818"/>
                </a:lnTo>
                <a:lnTo>
                  <a:pt x="249008" y="8948"/>
                </a:lnTo>
                <a:lnTo>
                  <a:pt x="246429" y="10790"/>
                </a:lnTo>
                <a:lnTo>
                  <a:pt x="245101" y="11273"/>
                </a:lnTo>
                <a:close/>
              </a:path>
              <a:path w="353059" h="146685">
                <a:moveTo>
                  <a:pt x="241703" y="104868"/>
                </a:moveTo>
                <a:lnTo>
                  <a:pt x="227446" y="104868"/>
                </a:lnTo>
                <a:lnTo>
                  <a:pt x="227369" y="12836"/>
                </a:lnTo>
                <a:lnTo>
                  <a:pt x="227297" y="12259"/>
                </a:lnTo>
                <a:lnTo>
                  <a:pt x="226546" y="11273"/>
                </a:lnTo>
                <a:lnTo>
                  <a:pt x="242707" y="11273"/>
                </a:lnTo>
                <a:lnTo>
                  <a:pt x="242037" y="11776"/>
                </a:lnTo>
                <a:lnTo>
                  <a:pt x="241907" y="12259"/>
                </a:lnTo>
                <a:lnTo>
                  <a:pt x="241789" y="13450"/>
                </a:lnTo>
                <a:lnTo>
                  <a:pt x="241703" y="104868"/>
                </a:lnTo>
                <a:close/>
              </a:path>
              <a:path w="353059" h="146685">
                <a:moveTo>
                  <a:pt x="300955" y="144995"/>
                </a:moveTo>
                <a:lnTo>
                  <a:pt x="263673" y="129592"/>
                </a:lnTo>
                <a:lnTo>
                  <a:pt x="249163" y="89520"/>
                </a:lnTo>
                <a:lnTo>
                  <a:pt x="250085" y="77576"/>
                </a:lnTo>
                <a:lnTo>
                  <a:pt x="271434" y="42422"/>
                </a:lnTo>
                <a:lnTo>
                  <a:pt x="300955" y="33821"/>
                </a:lnTo>
                <a:lnTo>
                  <a:pt x="311890" y="34776"/>
                </a:lnTo>
                <a:lnTo>
                  <a:pt x="321758" y="37644"/>
                </a:lnTo>
                <a:lnTo>
                  <a:pt x="330559" y="42422"/>
                </a:lnTo>
                <a:lnTo>
                  <a:pt x="337066" y="48052"/>
                </a:lnTo>
                <a:lnTo>
                  <a:pt x="296192" y="48052"/>
                </a:lnTo>
                <a:lnTo>
                  <a:pt x="292286" y="51847"/>
                </a:lnTo>
                <a:lnTo>
                  <a:pt x="284658" y="89520"/>
                </a:lnTo>
                <a:lnTo>
                  <a:pt x="284944" y="98421"/>
                </a:lnTo>
                <a:lnTo>
                  <a:pt x="296192" y="130540"/>
                </a:lnTo>
                <a:lnTo>
                  <a:pt x="337203" y="130540"/>
                </a:lnTo>
                <a:lnTo>
                  <a:pt x="330559" y="136331"/>
                </a:lnTo>
                <a:lnTo>
                  <a:pt x="321758" y="141144"/>
                </a:lnTo>
                <a:lnTo>
                  <a:pt x="311890" y="144033"/>
                </a:lnTo>
                <a:lnTo>
                  <a:pt x="300955" y="144995"/>
                </a:lnTo>
                <a:close/>
              </a:path>
              <a:path w="353059" h="146685">
                <a:moveTo>
                  <a:pt x="247705" y="144995"/>
                </a:moveTo>
                <a:lnTo>
                  <a:pt x="209196" y="144995"/>
                </a:lnTo>
                <a:lnTo>
                  <a:pt x="159580" y="40183"/>
                </a:lnTo>
                <a:lnTo>
                  <a:pt x="196670" y="40183"/>
                </a:lnTo>
                <a:lnTo>
                  <a:pt x="227446" y="104868"/>
                </a:lnTo>
                <a:lnTo>
                  <a:pt x="241703" y="104868"/>
                </a:lnTo>
                <a:lnTo>
                  <a:pt x="241808" y="132754"/>
                </a:lnTo>
                <a:lnTo>
                  <a:pt x="242045" y="133126"/>
                </a:lnTo>
                <a:lnTo>
                  <a:pt x="242292" y="133443"/>
                </a:lnTo>
                <a:lnTo>
                  <a:pt x="244863" y="133443"/>
                </a:lnTo>
                <a:lnTo>
                  <a:pt x="246961" y="134298"/>
                </a:lnTo>
                <a:lnTo>
                  <a:pt x="248040" y="135452"/>
                </a:lnTo>
                <a:lnTo>
                  <a:pt x="249119" y="136568"/>
                </a:lnTo>
                <a:lnTo>
                  <a:pt x="249659" y="137870"/>
                </a:lnTo>
                <a:lnTo>
                  <a:pt x="249659" y="143116"/>
                </a:lnTo>
                <a:lnTo>
                  <a:pt x="247705" y="144995"/>
                </a:lnTo>
                <a:close/>
              </a:path>
              <a:path w="353059" h="146685">
                <a:moveTo>
                  <a:pt x="337203" y="130540"/>
                </a:moveTo>
                <a:lnTo>
                  <a:pt x="305717" y="130540"/>
                </a:lnTo>
                <a:lnTo>
                  <a:pt x="309624" y="126838"/>
                </a:lnTo>
                <a:lnTo>
                  <a:pt x="312675" y="119434"/>
                </a:lnTo>
                <a:lnTo>
                  <a:pt x="314677" y="113379"/>
                </a:lnTo>
                <a:lnTo>
                  <a:pt x="316107" y="106374"/>
                </a:lnTo>
                <a:lnTo>
                  <a:pt x="316965" y="98421"/>
                </a:lnTo>
                <a:lnTo>
                  <a:pt x="317251" y="89520"/>
                </a:lnTo>
                <a:lnTo>
                  <a:pt x="316965" y="80607"/>
                </a:lnTo>
                <a:lnTo>
                  <a:pt x="305717" y="48052"/>
                </a:lnTo>
                <a:lnTo>
                  <a:pt x="337066" y="48052"/>
                </a:lnTo>
                <a:lnTo>
                  <a:pt x="352747" y="89520"/>
                </a:lnTo>
                <a:lnTo>
                  <a:pt x="351844" y="101275"/>
                </a:lnTo>
                <a:lnTo>
                  <a:pt x="349133" y="111872"/>
                </a:lnTo>
                <a:lnTo>
                  <a:pt x="344616" y="121311"/>
                </a:lnTo>
                <a:lnTo>
                  <a:pt x="338292" y="129592"/>
                </a:lnTo>
                <a:lnTo>
                  <a:pt x="337203" y="130540"/>
                </a:lnTo>
                <a:close/>
              </a:path>
              <a:path w="353059" h="146685">
                <a:moveTo>
                  <a:pt x="165162" y="144995"/>
                </a:moveTo>
                <a:lnTo>
                  <a:pt x="139172" y="144995"/>
                </a:lnTo>
                <a:lnTo>
                  <a:pt x="137145" y="143116"/>
                </a:lnTo>
                <a:lnTo>
                  <a:pt x="137145" y="135601"/>
                </a:lnTo>
                <a:lnTo>
                  <a:pt x="139474" y="133443"/>
                </a:lnTo>
                <a:lnTo>
                  <a:pt x="164871" y="133443"/>
                </a:lnTo>
                <a:lnTo>
                  <a:pt x="167115" y="135601"/>
                </a:lnTo>
                <a:lnTo>
                  <a:pt x="167115" y="143116"/>
                </a:lnTo>
                <a:lnTo>
                  <a:pt x="165162" y="144995"/>
                </a:lnTo>
                <a:close/>
              </a:path>
            </a:pathLst>
          </a:custGeom>
          <a:solidFill>
            <a:srgbClr val="FFFFFF"/>
          </a:solidFill>
        </p:spPr>
        <p:txBody>
          <a:bodyPr wrap="square" lIns="0" tIns="0" rIns="0" bIns="0" rtlCol="0"/>
          <a:lstStyle/>
          <a:p>
            <a:endParaRPr/>
          </a:p>
        </p:txBody>
      </p:sp>
      <p:pic>
        <p:nvPicPr>
          <p:cNvPr id="5" name="object 5"/>
          <p:cNvPicPr/>
          <p:nvPr/>
        </p:nvPicPr>
        <p:blipFill>
          <a:blip r:embed="rId2" cstate="print"/>
          <a:stretch>
            <a:fillRect/>
          </a:stretch>
        </p:blipFill>
        <p:spPr>
          <a:xfrm>
            <a:off x="3733181" y="1546982"/>
            <a:ext cx="952667" cy="196850"/>
          </a:xfrm>
          <a:prstGeom prst="rect">
            <a:avLst/>
          </a:prstGeom>
        </p:spPr>
      </p:pic>
      <p:pic>
        <p:nvPicPr>
          <p:cNvPr id="6" name="object 6"/>
          <p:cNvPicPr/>
          <p:nvPr/>
        </p:nvPicPr>
        <p:blipFill>
          <a:blip r:embed="rId3" cstate="print"/>
          <a:stretch>
            <a:fillRect/>
          </a:stretch>
        </p:blipFill>
        <p:spPr>
          <a:xfrm>
            <a:off x="7252505" y="1546870"/>
            <a:ext cx="1131843" cy="154483"/>
          </a:xfrm>
          <a:prstGeom prst="rect">
            <a:avLst/>
          </a:prstGeom>
        </p:spPr>
      </p:pic>
      <p:sp>
        <p:nvSpPr>
          <p:cNvPr id="7" name="object 7"/>
          <p:cNvSpPr txBox="1"/>
          <p:nvPr/>
        </p:nvSpPr>
        <p:spPr>
          <a:xfrm>
            <a:off x="8482949" y="6634162"/>
            <a:ext cx="166370" cy="177800"/>
          </a:xfrm>
          <a:prstGeom prst="rect">
            <a:avLst/>
          </a:prstGeom>
        </p:spPr>
        <p:txBody>
          <a:bodyPr vert="horz" wrap="square" lIns="0" tIns="0" rIns="0" bIns="0" rtlCol="0">
            <a:spAutoFit/>
          </a:bodyPr>
          <a:lstStyle/>
          <a:p>
            <a:pPr marL="38100">
              <a:lnSpc>
                <a:spcPts val="1240"/>
              </a:lnSpc>
            </a:pPr>
            <a:fld id="{81D60167-4931-47E6-BA6A-407CBD079E47}" type="slidenum">
              <a:rPr sz="1200" spc="-50" dirty="0">
                <a:latin typeface="Calibri"/>
                <a:cs typeface="Calibri"/>
              </a:rPr>
              <a:t>2</a:t>
            </a:fld>
            <a:endParaRPr sz="12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51618" rIns="0" bIns="0" rtlCol="0">
            <a:spAutoFit/>
          </a:bodyPr>
          <a:lstStyle/>
          <a:p>
            <a:pPr marL="2736850">
              <a:lnSpc>
                <a:spcPct val="100000"/>
              </a:lnSpc>
              <a:spcBef>
                <a:spcPts val="100"/>
              </a:spcBef>
            </a:pPr>
            <a:r>
              <a:rPr spc="-10" dirty="0"/>
              <a:t>Introduction</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3</a:t>
            </a:fld>
            <a:endParaRPr spc="-25" dirty="0"/>
          </a:p>
        </p:txBody>
      </p:sp>
      <p:sp>
        <p:nvSpPr>
          <p:cNvPr id="3" name="object 3"/>
          <p:cNvSpPr txBox="1"/>
          <p:nvPr/>
        </p:nvSpPr>
        <p:spPr>
          <a:xfrm>
            <a:off x="304800" y="1623674"/>
            <a:ext cx="8458200" cy="4429417"/>
          </a:xfrm>
          <a:prstGeom prst="rect">
            <a:avLst/>
          </a:prstGeom>
        </p:spPr>
        <p:txBody>
          <a:bodyPr vert="horz" wrap="square" lIns="0" tIns="27939" rIns="0" bIns="0" rtlCol="0">
            <a:spAutoFit/>
          </a:bodyPr>
          <a:lstStyle/>
          <a:p>
            <a:pPr marL="342900" indent="-342900">
              <a:buFont typeface="Arial" panose="020B0604020202020204" pitchFamily="34" charset="0"/>
              <a:buChar char="•"/>
            </a:pPr>
            <a:r>
              <a:rPr lang="en-US" sz="2200" dirty="0">
                <a:solidFill>
                  <a:srgbClr val="FF0000"/>
                </a:solidFill>
                <a:latin typeface="+mn-lt"/>
              </a:rPr>
              <a:t>In many colleges, event updates and announcements are conveyed manually via students/class Representatives.</a:t>
            </a:r>
          </a:p>
          <a:p>
            <a:pPr marL="342900" indent="-342900">
              <a:buFont typeface="Arial" panose="020B0604020202020204" pitchFamily="34" charset="0"/>
              <a:buChar char="•"/>
            </a:pPr>
            <a:r>
              <a:rPr lang="en-US" sz="2200" dirty="0">
                <a:solidFill>
                  <a:srgbClr val="FF0000"/>
                </a:solidFill>
                <a:latin typeface="+mn-lt"/>
              </a:rPr>
              <a:t>Social media is not specifically built for college needs—thus missing relevant academic features..….</a:t>
            </a:r>
          </a:p>
          <a:p>
            <a:pPr marL="342900" indent="-342900">
              <a:buFont typeface="Arial" panose="020B0604020202020204" pitchFamily="34" charset="0"/>
              <a:buChar char="•"/>
            </a:pPr>
            <a:r>
              <a:rPr lang="en-US" sz="2200" dirty="0">
                <a:solidFill>
                  <a:srgbClr val="FF0000"/>
                </a:solidFill>
                <a:latin typeface="+mn-lt"/>
              </a:rPr>
              <a:t>There is no dedicated platform that provides access to past year question papers and academic materials in an organized way. Our chatbot has been enhanced to share links to past year question papers upon request instantly. </a:t>
            </a:r>
          </a:p>
          <a:p>
            <a:pPr marL="342900" indent="-342900">
              <a:buFont typeface="Arial" panose="020B0604020202020204" pitchFamily="34" charset="0"/>
              <a:buChar char="•"/>
            </a:pPr>
            <a:r>
              <a:rPr lang="en-US" sz="2200" dirty="0">
                <a:solidFill>
                  <a:srgbClr val="FF0000"/>
                </a:solidFill>
                <a:latin typeface="+mn-lt"/>
              </a:rPr>
              <a:t>Some institutions use Learning Management Systems (LMS) like Moodle or Google Classroom, but they do not integrate chatbot-based FAQs, social interaction, or student analytics in one platform.</a:t>
            </a:r>
          </a:p>
          <a:p>
            <a:pPr marL="342900" indent="-342900">
              <a:buFont typeface="Arial" panose="020B0604020202020204" pitchFamily="34" charset="0"/>
              <a:buChar char="•"/>
            </a:pPr>
            <a:r>
              <a:rPr lang="en-US" sz="2200" dirty="0">
                <a:solidFill>
                  <a:srgbClr val="FF0000"/>
                </a:solidFill>
                <a:latin typeface="+mn-lt"/>
              </a:rPr>
              <a:t>Our project addresses these gaps through a unified web platform with Firebase, an AI-powered FAQ Chatbot, and an NLP-based text analyzer.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795" rIns="0" bIns="0" rtlCol="0">
            <a:spAutoFit/>
          </a:bodyPr>
          <a:lstStyle/>
          <a:p>
            <a:pPr marL="3041650" marR="5080" indent="-3028950">
              <a:lnSpc>
                <a:spcPct val="100400"/>
              </a:lnSpc>
              <a:spcBef>
                <a:spcPts val="85"/>
              </a:spcBef>
            </a:pPr>
            <a:r>
              <a:rPr dirty="0"/>
              <a:t>Problem</a:t>
            </a:r>
            <a:r>
              <a:rPr spc="-80" dirty="0"/>
              <a:t> </a:t>
            </a:r>
            <a:r>
              <a:rPr spc="-10" dirty="0"/>
              <a:t>identification,</a:t>
            </a:r>
            <a:r>
              <a:rPr spc="-80" dirty="0"/>
              <a:t> </a:t>
            </a:r>
            <a:r>
              <a:rPr dirty="0"/>
              <a:t>scope</a:t>
            </a:r>
            <a:r>
              <a:rPr spc="-80" dirty="0"/>
              <a:t> </a:t>
            </a:r>
            <a:r>
              <a:rPr dirty="0"/>
              <a:t>and</a:t>
            </a:r>
            <a:r>
              <a:rPr spc="-80" dirty="0"/>
              <a:t> </a:t>
            </a:r>
            <a:r>
              <a:rPr spc="-10" dirty="0"/>
              <a:t>objectives (Contd.,)</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4</a:t>
            </a:fld>
            <a:endParaRPr spc="-25" dirty="0"/>
          </a:p>
        </p:txBody>
      </p:sp>
      <p:sp>
        <p:nvSpPr>
          <p:cNvPr id="7" name="TextBox 6">
            <a:extLst>
              <a:ext uri="{FF2B5EF4-FFF2-40B4-BE49-F238E27FC236}">
                <a16:creationId xmlns:a16="http://schemas.microsoft.com/office/drawing/2014/main" id="{DE27452D-9B30-83DB-BA0A-49F4D9C5DD3A}"/>
              </a:ext>
            </a:extLst>
          </p:cNvPr>
          <p:cNvSpPr txBox="1"/>
          <p:nvPr/>
        </p:nvSpPr>
        <p:spPr>
          <a:xfrm>
            <a:off x="530177" y="1752600"/>
            <a:ext cx="8046101" cy="4154984"/>
          </a:xfrm>
          <a:prstGeom prst="rect">
            <a:avLst/>
          </a:prstGeom>
          <a:noFill/>
        </p:spPr>
        <p:txBody>
          <a:bodyPr wrap="square">
            <a:spAutoFit/>
          </a:bodyPr>
          <a:lstStyle/>
          <a:p>
            <a:pPr marL="0" indent="0" algn="just" eaLnBrk="1" fontAlgn="auto" hangingPunct="1">
              <a:spcAft>
                <a:spcPts val="0"/>
              </a:spcAft>
              <a:buFont typeface="Arial" panose="020B0604020202020204" pitchFamily="34" charset="0"/>
              <a:buNone/>
              <a:defRPr/>
            </a:pPr>
            <a:r>
              <a:rPr lang="en-US" sz="2400" b="1" dirty="0">
                <a:solidFill>
                  <a:srgbClr val="FF0000"/>
                </a:solidFill>
                <a:latin typeface="Times New Roman" panose="02020603050405020304" pitchFamily="18" charset="0"/>
                <a:cs typeface="Times New Roman" panose="02020603050405020304" pitchFamily="18" charset="0"/>
              </a:rPr>
              <a:t>Problem Definition </a:t>
            </a:r>
            <a:endParaRPr lang="en-IN" sz="2400" b="1" dirty="0">
              <a:solidFill>
                <a:srgbClr val="FF000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defRPr/>
            </a:pPr>
            <a:r>
              <a:rPr lang="en-US" sz="2400" dirty="0"/>
              <a:t>Students lack a </a:t>
            </a:r>
            <a:r>
              <a:rPr lang="en-US" sz="2400" b="1" dirty="0"/>
              <a:t>dedicated, secure, and interactive college platform</a:t>
            </a:r>
            <a:r>
              <a:rPr lang="en-US" sz="2400" dirty="0"/>
              <a:t> for communication, event updates, academic resources, and FAQs. Existing solutions (social media groups, notice boards) are fragmented, unreliable, and not tailored to college needs.</a:t>
            </a:r>
          </a:p>
          <a:p>
            <a:pPr marL="0" indent="0" eaLnBrk="1" fontAlgn="auto" hangingPunct="1">
              <a:spcAft>
                <a:spcPts val="0"/>
              </a:spcAft>
              <a:buNone/>
              <a:defRPr/>
            </a:pPr>
            <a:r>
              <a:rPr lang="en-US" sz="2400" b="1" dirty="0">
                <a:solidFill>
                  <a:srgbClr val="FF0000"/>
                </a:solidFill>
                <a:latin typeface="Times New Roman" panose="02020603050405020304" pitchFamily="18" charset="0"/>
                <a:cs typeface="Times New Roman" panose="02020603050405020304" pitchFamily="18" charset="0"/>
              </a:rPr>
              <a:t>Scope </a:t>
            </a:r>
          </a:p>
          <a:p>
            <a:pPr marL="0" indent="0">
              <a:buNone/>
              <a:defRPr/>
            </a:pPr>
            <a:r>
              <a:rPr lang="en-US" sz="2400" dirty="0"/>
              <a:t> A secure, college-only platform for SREC where students can post content, view club events, access past papers, and get real-time help through an AI chatbot — all in one place to boost academic and social engagement.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795" rIns="0" bIns="0" rtlCol="0">
            <a:spAutoFit/>
          </a:bodyPr>
          <a:lstStyle/>
          <a:p>
            <a:pPr marL="2731135" marR="5080" indent="-1981200">
              <a:lnSpc>
                <a:spcPct val="100400"/>
              </a:lnSpc>
              <a:spcBef>
                <a:spcPts val="85"/>
              </a:spcBef>
            </a:pPr>
            <a:r>
              <a:rPr dirty="0"/>
              <a:t>Problem</a:t>
            </a:r>
            <a:r>
              <a:rPr spc="-85" dirty="0"/>
              <a:t> </a:t>
            </a:r>
            <a:r>
              <a:rPr spc="-10" dirty="0"/>
              <a:t>identification,</a:t>
            </a:r>
            <a:r>
              <a:rPr spc="-85" dirty="0"/>
              <a:t> </a:t>
            </a:r>
            <a:r>
              <a:rPr dirty="0"/>
              <a:t>scope</a:t>
            </a:r>
            <a:r>
              <a:rPr spc="-85" dirty="0"/>
              <a:t> </a:t>
            </a:r>
            <a:r>
              <a:rPr spc="-25" dirty="0"/>
              <a:t>and </a:t>
            </a:r>
            <a:r>
              <a:rPr spc="-10" dirty="0"/>
              <a:t>objectives</a:t>
            </a:r>
          </a:p>
        </p:txBody>
      </p:sp>
      <p:pic>
        <p:nvPicPr>
          <p:cNvPr id="3" name="object 3"/>
          <p:cNvPicPr/>
          <p:nvPr/>
        </p:nvPicPr>
        <p:blipFill>
          <a:blip r:embed="rId2" cstate="print"/>
          <a:stretch>
            <a:fillRect/>
          </a:stretch>
        </p:blipFill>
        <p:spPr>
          <a:xfrm>
            <a:off x="461617" y="1636282"/>
            <a:ext cx="2095990" cy="274091"/>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5</a:t>
            </a:fld>
            <a:endParaRPr spc="-25" dirty="0"/>
          </a:p>
        </p:txBody>
      </p:sp>
      <p:sp>
        <p:nvSpPr>
          <p:cNvPr id="8" name="TextBox 7">
            <a:extLst>
              <a:ext uri="{FF2B5EF4-FFF2-40B4-BE49-F238E27FC236}">
                <a16:creationId xmlns:a16="http://schemas.microsoft.com/office/drawing/2014/main" id="{9ECE348C-915A-E41E-CD24-919A15D793EB}"/>
              </a:ext>
            </a:extLst>
          </p:cNvPr>
          <p:cNvSpPr txBox="1"/>
          <p:nvPr/>
        </p:nvSpPr>
        <p:spPr>
          <a:xfrm>
            <a:off x="304800" y="1582341"/>
            <a:ext cx="8229600" cy="3354765"/>
          </a:xfrm>
          <a:prstGeom prst="rect">
            <a:avLst/>
          </a:prstGeom>
          <a:noFill/>
        </p:spPr>
        <p:txBody>
          <a:bodyPr wrap="square">
            <a:spAutoFit/>
          </a:bodyPr>
          <a:lstStyle/>
          <a:p>
            <a:pPr marL="571500" indent="-571500" algn="just" eaLnBrk="1" fontAlgn="auto" hangingPunct="1">
              <a:spcAft>
                <a:spcPts val="0"/>
              </a:spcAft>
              <a:buFont typeface="Arial" panose="020B0604020202020204" pitchFamily="34" charset="0"/>
              <a:buChar char="•"/>
              <a:defRPr/>
            </a:pPr>
            <a:endParaRPr lang="en-IN" sz="3600" dirty="0">
              <a:latin typeface="Arial" pitchFamily="34" charset="0"/>
              <a:cs typeface="Arial" pitchFamily="34" charset="0"/>
            </a:endParaRPr>
          </a:p>
          <a:p>
            <a:pPr marL="285750" indent="-285750">
              <a:buFont typeface="Arial" panose="020B0604020202020204" pitchFamily="34" charset="0"/>
              <a:buChar char="•"/>
              <a:defRPr/>
            </a:pPr>
            <a:r>
              <a:rPr lang="en-US" sz="2200" dirty="0"/>
              <a:t>Enable students to post content, view club events, and connect socially, with a sentiment analyzer to understand post tone.</a:t>
            </a:r>
          </a:p>
          <a:p>
            <a:pPr marL="285750" indent="-285750">
              <a:buFont typeface="Arial" panose="020B0604020202020204" pitchFamily="34" charset="0"/>
              <a:buChar char="•"/>
              <a:defRPr/>
            </a:pPr>
            <a:r>
              <a:rPr lang="en-US" sz="2200" dirty="0"/>
              <a:t>Build a secure, centralized platform for all SREC students — especially newcomers — to access academic and campus information easily.</a:t>
            </a:r>
          </a:p>
          <a:p>
            <a:pPr marL="285750" indent="-285750">
              <a:buFont typeface="Arial" panose="020B0604020202020204" pitchFamily="34" charset="0"/>
              <a:buChar char="•"/>
              <a:defRPr/>
            </a:pPr>
            <a:r>
              <a:rPr lang="en-US" sz="2200" dirty="0"/>
              <a:t>Provide quick access to past year question papers and real-time help through an AI-powered FAQ chatbot.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93099" y="367506"/>
            <a:ext cx="7557800" cy="684962"/>
          </a:xfrm>
          <a:prstGeom prst="rect">
            <a:avLst/>
          </a:prstGeom>
        </p:spPr>
        <p:txBody>
          <a:bodyPr vert="horz" wrap="square" lIns="0" tIns="251618" rIns="0" bIns="0" rtlCol="0">
            <a:spAutoFit/>
          </a:bodyPr>
          <a:lstStyle/>
          <a:p>
            <a:pPr marL="984250">
              <a:lnSpc>
                <a:spcPct val="100000"/>
              </a:lnSpc>
              <a:spcBef>
                <a:spcPts val="100"/>
              </a:spcBef>
            </a:pPr>
            <a:r>
              <a:rPr lang="en-US" dirty="0"/>
              <a:t>        </a:t>
            </a:r>
            <a:r>
              <a:rPr dirty="0"/>
              <a:t>Literature</a:t>
            </a:r>
            <a:r>
              <a:rPr spc="-75" dirty="0"/>
              <a:t> </a:t>
            </a:r>
            <a:r>
              <a:rPr dirty="0"/>
              <a:t>Survey</a:t>
            </a:r>
            <a:r>
              <a:rPr spc="-70" dirty="0"/>
              <a:t> </a:t>
            </a:r>
            <a:r>
              <a:rPr dirty="0"/>
              <a:t>–</a:t>
            </a:r>
            <a:r>
              <a:rPr spc="-75" dirty="0"/>
              <a:t> </a:t>
            </a:r>
            <a:r>
              <a:rPr dirty="0"/>
              <a:t>01</a:t>
            </a:r>
            <a:r>
              <a:rPr spc="-40" dirty="0"/>
              <a:t> </a:t>
            </a:r>
            <a:endParaRPr spc="-10" dirty="0">
              <a:solidFill>
                <a:srgbClr val="FF0000"/>
              </a:solidFill>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6</a:t>
            </a:fld>
            <a:endParaRPr spc="-25" dirty="0"/>
          </a:p>
        </p:txBody>
      </p:sp>
      <p:sp>
        <p:nvSpPr>
          <p:cNvPr id="3" name="object 3"/>
          <p:cNvSpPr txBox="1"/>
          <p:nvPr/>
        </p:nvSpPr>
        <p:spPr>
          <a:xfrm>
            <a:off x="546846" y="4846934"/>
            <a:ext cx="8084693" cy="862159"/>
          </a:xfrm>
          <a:prstGeom prst="rect">
            <a:avLst/>
          </a:prstGeom>
        </p:spPr>
        <p:txBody>
          <a:bodyPr vert="horz" wrap="square" lIns="0" tIns="40640" rIns="0" bIns="0" rtlCol="0">
            <a:spAutoFit/>
          </a:bodyPr>
          <a:lstStyle/>
          <a:p>
            <a:pPr marL="344170" marR="5080" indent="-332105">
              <a:lnSpc>
                <a:spcPct val="92300"/>
              </a:lnSpc>
              <a:spcBef>
                <a:spcPts val="320"/>
              </a:spcBef>
              <a:buFont typeface="Arial"/>
              <a:buChar char="•"/>
              <a:tabLst>
                <a:tab pos="344170" algn="l"/>
                <a:tab pos="4326890" algn="l"/>
              </a:tabLst>
            </a:pPr>
            <a:r>
              <a:rPr sz="2200" b="1" dirty="0">
                <a:solidFill>
                  <a:srgbClr val="002060"/>
                </a:solidFill>
                <a:latin typeface="Calibri"/>
                <a:cs typeface="Calibri"/>
              </a:rPr>
              <a:t>Source:</a:t>
            </a:r>
            <a:r>
              <a:rPr sz="2200" b="1" spc="60" dirty="0">
                <a:solidFill>
                  <a:srgbClr val="002060"/>
                </a:solidFill>
                <a:latin typeface="Calibri"/>
                <a:cs typeface="Calibri"/>
              </a:rPr>
              <a:t> </a:t>
            </a:r>
            <a:r>
              <a:rPr lang="en-US" dirty="0">
                <a:latin typeface="Calibri" panose="020F0502020204030204" pitchFamily="34" charset="0"/>
                <a:ea typeface="Calibri" panose="020F0502020204030204" pitchFamily="34" charset="0"/>
                <a:cs typeface="Calibri" panose="020F0502020204030204" pitchFamily="34" charset="0"/>
              </a:rPr>
              <a:t>Ahmed </a:t>
            </a:r>
            <a:r>
              <a:rPr lang="en-US" dirty="0" err="1">
                <a:latin typeface="Calibri" panose="020F0502020204030204" pitchFamily="34" charset="0"/>
                <a:ea typeface="Calibri" panose="020F0502020204030204" pitchFamily="34" charset="0"/>
                <a:cs typeface="Calibri" panose="020F0502020204030204" pitchFamily="34" charset="0"/>
              </a:rPr>
              <a:t>Elragal</a:t>
            </a:r>
            <a:r>
              <a:rPr lang="en-US" dirty="0">
                <a:latin typeface="Calibri" panose="020F0502020204030204" pitchFamily="34" charset="0"/>
                <a:ea typeface="Calibri" panose="020F0502020204030204" pitchFamily="34" charset="0"/>
                <a:cs typeface="Calibri" panose="020F0502020204030204" pitchFamily="34" charset="0"/>
              </a:rPr>
              <a:t>, Ali Ismail Awad, Ingemar Andersson, and Jörgen Nilsson, “A Conversational AI Bot for Efficient Learning: A Prototypical Design”, IEEE Access, vol. 12, 2024, DOI: 10.1109/ACCESS.2024.3476953.</a:t>
            </a:r>
            <a:endParaRPr dirty="0">
              <a:latin typeface="Trebuchet MS"/>
              <a:cs typeface="Trebuchet MS"/>
            </a:endParaRPr>
          </a:p>
        </p:txBody>
      </p:sp>
      <p:graphicFrame>
        <p:nvGraphicFramePr>
          <p:cNvPr id="4" name="object 4"/>
          <p:cNvGraphicFramePr>
            <a:graphicFrameLocks noGrp="1"/>
          </p:cNvGraphicFramePr>
          <p:nvPr>
            <p:extLst>
              <p:ext uri="{D42A27DB-BD31-4B8C-83A1-F6EECF244321}">
                <p14:modId xmlns:p14="http://schemas.microsoft.com/office/powerpoint/2010/main" val="4046628315"/>
              </p:ext>
            </p:extLst>
          </p:nvPr>
        </p:nvGraphicFramePr>
        <p:xfrm>
          <a:off x="533400" y="1635125"/>
          <a:ext cx="7704455" cy="2598420"/>
        </p:xfrm>
        <a:graphic>
          <a:graphicData uri="http://schemas.openxmlformats.org/drawingml/2006/table">
            <a:tbl>
              <a:tblPr firstRow="1" bandRow="1">
                <a:tableStyleId>{2D5ABB26-0587-4C30-8999-92F81FD0307C}</a:tableStyleId>
              </a:tblPr>
              <a:tblGrid>
                <a:gridCol w="2712085">
                  <a:extLst>
                    <a:ext uri="{9D8B030D-6E8A-4147-A177-3AD203B41FA5}">
                      <a16:colId xmlns:a16="http://schemas.microsoft.com/office/drawing/2014/main" val="20000"/>
                    </a:ext>
                  </a:extLst>
                </a:gridCol>
                <a:gridCol w="2496185">
                  <a:extLst>
                    <a:ext uri="{9D8B030D-6E8A-4147-A177-3AD203B41FA5}">
                      <a16:colId xmlns:a16="http://schemas.microsoft.com/office/drawing/2014/main" val="20001"/>
                    </a:ext>
                  </a:extLst>
                </a:gridCol>
                <a:gridCol w="2496185">
                  <a:extLst>
                    <a:ext uri="{9D8B030D-6E8A-4147-A177-3AD203B41FA5}">
                      <a16:colId xmlns:a16="http://schemas.microsoft.com/office/drawing/2014/main" val="20002"/>
                    </a:ext>
                  </a:extLst>
                </a:gridCol>
              </a:tblGrid>
              <a:tr h="367665">
                <a:tc>
                  <a:txBody>
                    <a:bodyPr/>
                    <a:lstStyle/>
                    <a:p>
                      <a:pPr marL="805180" algn="l">
                        <a:lnSpc>
                          <a:spcPct val="100000"/>
                        </a:lnSpc>
                        <a:spcBef>
                          <a:spcPts val="285"/>
                        </a:spcBef>
                      </a:pPr>
                      <a:r>
                        <a:rPr sz="1800" b="1" spc="-10" dirty="0">
                          <a:latin typeface="Calibri"/>
                          <a:cs typeface="Calibri"/>
                        </a:rPr>
                        <a:t>Experiment</a:t>
                      </a:r>
                      <a:endParaRPr sz="1800" dirty="0">
                        <a:latin typeface="Calibri"/>
                        <a:cs typeface="Calibri"/>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E81BD"/>
                    </a:solidFill>
                  </a:tcPr>
                </a:tc>
                <a:tc>
                  <a:txBody>
                    <a:bodyPr/>
                    <a:lstStyle/>
                    <a:p>
                      <a:pPr marL="795655">
                        <a:lnSpc>
                          <a:spcPct val="100000"/>
                        </a:lnSpc>
                        <a:spcBef>
                          <a:spcPts val="285"/>
                        </a:spcBef>
                      </a:pPr>
                      <a:r>
                        <a:rPr sz="1800" b="1" spc="-10" dirty="0">
                          <a:latin typeface="Calibri"/>
                          <a:cs typeface="Calibri"/>
                        </a:rPr>
                        <a:t>Inference</a:t>
                      </a:r>
                      <a:endParaRPr sz="1800">
                        <a:latin typeface="Calibri"/>
                        <a:cs typeface="Calibri"/>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E81BD"/>
                    </a:solidFill>
                  </a:tcPr>
                </a:tc>
                <a:tc>
                  <a:txBody>
                    <a:bodyPr/>
                    <a:lstStyle/>
                    <a:p>
                      <a:pPr marL="643255">
                        <a:lnSpc>
                          <a:spcPct val="100000"/>
                        </a:lnSpc>
                        <a:spcBef>
                          <a:spcPts val="285"/>
                        </a:spcBef>
                      </a:pPr>
                      <a:r>
                        <a:rPr sz="1800" b="1" dirty="0">
                          <a:latin typeface="Calibri"/>
                          <a:cs typeface="Calibri"/>
                        </a:rPr>
                        <a:t>Problem</a:t>
                      </a:r>
                      <a:r>
                        <a:rPr sz="1800" b="1" spc="-65" dirty="0">
                          <a:latin typeface="Calibri"/>
                          <a:cs typeface="Calibri"/>
                        </a:rPr>
                        <a:t> </a:t>
                      </a:r>
                      <a:r>
                        <a:rPr sz="1800" b="1" spc="-25" dirty="0">
                          <a:latin typeface="Calibri"/>
                          <a:cs typeface="Calibri"/>
                        </a:rPr>
                        <a:t>gap</a:t>
                      </a:r>
                      <a:endParaRPr sz="1800">
                        <a:latin typeface="Calibri"/>
                        <a:cs typeface="Calibri"/>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E81BD"/>
                    </a:solidFill>
                  </a:tcPr>
                </a:tc>
                <a:extLst>
                  <a:ext uri="{0D108BD9-81ED-4DB2-BD59-A6C34878D82A}">
                    <a16:rowId xmlns:a16="http://schemas.microsoft.com/office/drawing/2014/main" val="10000"/>
                  </a:ext>
                </a:extLst>
              </a:tr>
              <a:tr h="345440">
                <a:tc>
                  <a:txBody>
                    <a:bodyPr/>
                    <a:lstStyle/>
                    <a:p>
                      <a:pPr algn="l"/>
                      <a:r>
                        <a:rPr lang="en-US" sz="1800" dirty="0"/>
                        <a:t>Development of a conversational AI bot prototype designed to support efficient learning by providing intelligent, interactive, and personalized assistance to learners.</a:t>
                      </a:r>
                    </a:p>
                  </a:txBody>
                  <a:tcPr marL="0" marR="0" marT="36195" marB="0">
                    <a:lnL w="12700">
                      <a:solidFill>
                        <a:srgbClr val="FFFFFF"/>
                      </a:solidFill>
                      <a:prstDash val="solid"/>
                    </a:lnL>
                    <a:lnR w="12700">
                      <a:solidFill>
                        <a:srgbClr val="FFFFFF"/>
                      </a:solidFill>
                      <a:prstDash val="solid"/>
                    </a:lnR>
                    <a:lnT w="38100">
                      <a:solidFill>
                        <a:srgbClr val="FFFFFF"/>
                      </a:solidFill>
                      <a:prstDash val="solid"/>
                    </a:lnT>
                    <a:solidFill>
                      <a:srgbClr val="CFD6E7"/>
                    </a:solidFill>
                  </a:tcPr>
                </a:tc>
                <a:tc>
                  <a:txBody>
                    <a:bodyPr/>
                    <a:lstStyle/>
                    <a:p>
                      <a:r>
                        <a:rPr lang="en-US" dirty="0"/>
                        <a:t>The study showed that the AI bot boosts learning by increasing engagement, giving timely guidance, and supporting adaptive pathways, proving its value as an educational tool.</a:t>
                      </a:r>
                    </a:p>
                  </a:txBody>
                  <a:tcPr marL="0" marR="0" marT="36195" marB="0">
                    <a:lnL w="12700">
                      <a:solidFill>
                        <a:srgbClr val="FFFFFF"/>
                      </a:solidFill>
                      <a:prstDash val="solid"/>
                    </a:lnL>
                    <a:lnR w="12700">
                      <a:solidFill>
                        <a:srgbClr val="FFFFFF"/>
                      </a:solidFill>
                      <a:prstDash val="solid"/>
                    </a:lnR>
                    <a:lnT w="38100">
                      <a:solidFill>
                        <a:srgbClr val="FFFFFF"/>
                      </a:solidFill>
                      <a:prstDash val="solid"/>
                    </a:lnT>
                    <a:solidFill>
                      <a:srgbClr val="CFD6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For further work, it is suggested to use different geometries with the modification methods that are associated with the increasing evaporation surface area, such as fins and cylinders.</a:t>
                      </a:r>
                    </a:p>
                  </a:txBody>
                  <a:tcPr marL="0" marR="0" marT="36195" marB="0">
                    <a:lnL w="12700">
                      <a:solidFill>
                        <a:srgbClr val="FFFFFF"/>
                      </a:solidFill>
                      <a:prstDash val="solid"/>
                    </a:lnL>
                    <a:lnR w="12700">
                      <a:solidFill>
                        <a:srgbClr val="FFFFFF"/>
                      </a:solidFill>
                      <a:prstDash val="solid"/>
                    </a:lnR>
                    <a:lnT w="38100">
                      <a:solidFill>
                        <a:srgbClr val="FFFFFF"/>
                      </a:solidFill>
                      <a:prstDash val="solid"/>
                    </a:lnT>
                    <a:solidFill>
                      <a:srgbClr val="CFD6E7"/>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51618" rIns="0" bIns="0" rtlCol="0">
            <a:spAutoFit/>
          </a:bodyPr>
          <a:lstStyle/>
          <a:p>
            <a:pPr marL="1955800">
              <a:lnSpc>
                <a:spcPct val="100000"/>
              </a:lnSpc>
              <a:spcBef>
                <a:spcPts val="100"/>
              </a:spcBef>
            </a:pPr>
            <a:r>
              <a:rPr dirty="0"/>
              <a:t>Literature</a:t>
            </a:r>
            <a:r>
              <a:rPr spc="-85" dirty="0"/>
              <a:t> </a:t>
            </a:r>
            <a:r>
              <a:rPr dirty="0"/>
              <a:t>Survey</a:t>
            </a:r>
            <a:r>
              <a:rPr spc="-80" dirty="0"/>
              <a:t> </a:t>
            </a:r>
            <a:r>
              <a:rPr dirty="0"/>
              <a:t>-</a:t>
            </a:r>
            <a:r>
              <a:rPr spc="-80" dirty="0"/>
              <a:t> </a:t>
            </a:r>
            <a:r>
              <a:rPr spc="-25" dirty="0"/>
              <a:t>02</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7</a:t>
            </a:fld>
            <a:endParaRPr spc="-25" dirty="0"/>
          </a:p>
        </p:txBody>
      </p:sp>
      <p:sp>
        <p:nvSpPr>
          <p:cNvPr id="3" name="object 3"/>
          <p:cNvSpPr txBox="1"/>
          <p:nvPr/>
        </p:nvSpPr>
        <p:spPr>
          <a:xfrm>
            <a:off x="546846" y="4846934"/>
            <a:ext cx="7974330" cy="1332673"/>
          </a:xfrm>
          <a:prstGeom prst="rect">
            <a:avLst/>
          </a:prstGeom>
        </p:spPr>
        <p:txBody>
          <a:bodyPr vert="horz" wrap="square" lIns="0" tIns="15240" rIns="0" bIns="0" rtlCol="0">
            <a:spAutoFit/>
          </a:bodyPr>
          <a:lstStyle/>
          <a:p>
            <a:pPr marL="344170" indent="-331470">
              <a:lnSpc>
                <a:spcPts val="2555"/>
              </a:lnSpc>
              <a:spcBef>
                <a:spcPts val="120"/>
              </a:spcBef>
              <a:buFont typeface="Arial"/>
              <a:buChar char="•"/>
              <a:tabLst>
                <a:tab pos="344170" algn="l"/>
              </a:tabLst>
            </a:pPr>
            <a:endParaRPr lang="en-US" sz="2200" b="1" spc="-10" dirty="0">
              <a:solidFill>
                <a:srgbClr val="002060"/>
              </a:solidFill>
              <a:latin typeface="Calibri"/>
              <a:cs typeface="Calibri"/>
            </a:endParaRPr>
          </a:p>
          <a:p>
            <a:pPr marL="344170" indent="-331470">
              <a:lnSpc>
                <a:spcPts val="2555"/>
              </a:lnSpc>
              <a:spcBef>
                <a:spcPts val="120"/>
              </a:spcBef>
              <a:buFont typeface="Arial"/>
              <a:buChar char="•"/>
              <a:tabLst>
                <a:tab pos="344170" algn="l"/>
              </a:tabLst>
            </a:pPr>
            <a:r>
              <a:rPr sz="2200" b="1" spc="-10" dirty="0">
                <a:solidFill>
                  <a:srgbClr val="002060"/>
                </a:solidFill>
                <a:latin typeface="Calibri"/>
                <a:cs typeface="Calibri"/>
              </a:rPr>
              <a:t>Source:</a:t>
            </a:r>
            <a:r>
              <a:rPr lang="en-IN" dirty="0">
                <a:latin typeface="Calibri" panose="020F0502020204030204" pitchFamily="34" charset="0"/>
                <a:ea typeface="Calibri" panose="020F0502020204030204" pitchFamily="34" charset="0"/>
                <a:cs typeface="Calibri" panose="020F0502020204030204" pitchFamily="34" charset="0"/>
              </a:rPr>
              <a:t>Neumann, A. T., Yin, Y., Sowe, S., Decker, S., &amp; Jarke, M. (2025). An LLM-Driven Chatbot in Higher Education for Databases and Information Systems. </a:t>
            </a:r>
            <a:r>
              <a:rPr lang="en-IN" i="1" dirty="0">
                <a:latin typeface="Calibri" panose="020F0502020204030204" pitchFamily="34" charset="0"/>
                <a:ea typeface="Calibri" panose="020F0502020204030204" pitchFamily="34" charset="0"/>
                <a:cs typeface="Calibri" panose="020F0502020204030204" pitchFamily="34" charset="0"/>
              </a:rPr>
              <a:t>IEEE Trans. Educ.</a:t>
            </a:r>
            <a:r>
              <a:rPr lang="en-IN" dirty="0">
                <a:latin typeface="Calibri" panose="020F0502020204030204" pitchFamily="34" charset="0"/>
                <a:ea typeface="Calibri" panose="020F0502020204030204" pitchFamily="34" charset="0"/>
                <a:cs typeface="Calibri" panose="020F0502020204030204" pitchFamily="34" charset="0"/>
              </a:rPr>
              <a:t>, 68(1). https://doi.org/10.1109/TE.2024.3467912</a:t>
            </a:r>
          </a:p>
        </p:txBody>
      </p:sp>
      <p:graphicFrame>
        <p:nvGraphicFramePr>
          <p:cNvPr id="4" name="object 4"/>
          <p:cNvGraphicFramePr>
            <a:graphicFrameLocks noGrp="1"/>
          </p:cNvGraphicFramePr>
          <p:nvPr>
            <p:extLst>
              <p:ext uri="{D42A27DB-BD31-4B8C-83A1-F6EECF244321}">
                <p14:modId xmlns:p14="http://schemas.microsoft.com/office/powerpoint/2010/main" val="1995680484"/>
              </p:ext>
            </p:extLst>
          </p:nvPr>
        </p:nvGraphicFramePr>
        <p:xfrm>
          <a:off x="533400" y="1635125"/>
          <a:ext cx="7704455" cy="3328035"/>
        </p:xfrm>
        <a:graphic>
          <a:graphicData uri="http://schemas.openxmlformats.org/drawingml/2006/table">
            <a:tbl>
              <a:tblPr firstRow="1" bandRow="1">
                <a:tableStyleId>{2D5ABB26-0587-4C30-8999-92F81FD0307C}</a:tableStyleId>
              </a:tblPr>
              <a:tblGrid>
                <a:gridCol w="2712085">
                  <a:extLst>
                    <a:ext uri="{9D8B030D-6E8A-4147-A177-3AD203B41FA5}">
                      <a16:colId xmlns:a16="http://schemas.microsoft.com/office/drawing/2014/main" val="20000"/>
                    </a:ext>
                  </a:extLst>
                </a:gridCol>
                <a:gridCol w="2496185">
                  <a:extLst>
                    <a:ext uri="{9D8B030D-6E8A-4147-A177-3AD203B41FA5}">
                      <a16:colId xmlns:a16="http://schemas.microsoft.com/office/drawing/2014/main" val="20001"/>
                    </a:ext>
                  </a:extLst>
                </a:gridCol>
                <a:gridCol w="2496185">
                  <a:extLst>
                    <a:ext uri="{9D8B030D-6E8A-4147-A177-3AD203B41FA5}">
                      <a16:colId xmlns:a16="http://schemas.microsoft.com/office/drawing/2014/main" val="20002"/>
                    </a:ext>
                  </a:extLst>
                </a:gridCol>
              </a:tblGrid>
              <a:tr h="253772">
                <a:tc>
                  <a:txBody>
                    <a:bodyPr/>
                    <a:lstStyle/>
                    <a:p>
                      <a:pPr marL="805180">
                        <a:lnSpc>
                          <a:spcPct val="100000"/>
                        </a:lnSpc>
                        <a:spcBef>
                          <a:spcPts val="285"/>
                        </a:spcBef>
                      </a:pPr>
                      <a:r>
                        <a:rPr sz="1800" b="1" spc="-10" dirty="0">
                          <a:latin typeface="Calibri"/>
                          <a:cs typeface="Calibri"/>
                        </a:rPr>
                        <a:t>Experiment</a:t>
                      </a:r>
                      <a:endParaRPr sz="1800">
                        <a:latin typeface="Calibri"/>
                        <a:cs typeface="Calibri"/>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E81BD"/>
                    </a:solidFill>
                  </a:tcPr>
                </a:tc>
                <a:tc>
                  <a:txBody>
                    <a:bodyPr/>
                    <a:lstStyle/>
                    <a:p>
                      <a:pPr marL="795655">
                        <a:lnSpc>
                          <a:spcPct val="100000"/>
                        </a:lnSpc>
                        <a:spcBef>
                          <a:spcPts val="285"/>
                        </a:spcBef>
                      </a:pPr>
                      <a:r>
                        <a:rPr sz="1800" b="1" spc="-10" dirty="0">
                          <a:latin typeface="Calibri"/>
                          <a:cs typeface="Calibri"/>
                        </a:rPr>
                        <a:t>Inference</a:t>
                      </a:r>
                      <a:endParaRPr sz="1800">
                        <a:latin typeface="Calibri"/>
                        <a:cs typeface="Calibri"/>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E81BD"/>
                    </a:solidFill>
                  </a:tcPr>
                </a:tc>
                <a:tc>
                  <a:txBody>
                    <a:bodyPr/>
                    <a:lstStyle/>
                    <a:p>
                      <a:pPr marL="643255">
                        <a:lnSpc>
                          <a:spcPct val="100000"/>
                        </a:lnSpc>
                        <a:spcBef>
                          <a:spcPts val="285"/>
                        </a:spcBef>
                      </a:pPr>
                      <a:r>
                        <a:rPr sz="1800" b="1" dirty="0">
                          <a:latin typeface="Calibri"/>
                          <a:cs typeface="Calibri"/>
                        </a:rPr>
                        <a:t>Problem</a:t>
                      </a:r>
                      <a:r>
                        <a:rPr sz="1800" b="1" spc="-65" dirty="0">
                          <a:latin typeface="Calibri"/>
                          <a:cs typeface="Calibri"/>
                        </a:rPr>
                        <a:t> </a:t>
                      </a:r>
                      <a:r>
                        <a:rPr sz="1800" b="1" spc="-25" dirty="0">
                          <a:latin typeface="Calibri"/>
                          <a:cs typeface="Calibri"/>
                        </a:rPr>
                        <a:t>gap</a:t>
                      </a:r>
                      <a:endParaRPr sz="1800">
                        <a:latin typeface="Calibri"/>
                        <a:cs typeface="Calibri"/>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E81BD"/>
                    </a:solidFill>
                  </a:tcPr>
                </a:tc>
                <a:extLst>
                  <a:ext uri="{0D108BD9-81ED-4DB2-BD59-A6C34878D82A}">
                    <a16:rowId xmlns:a16="http://schemas.microsoft.com/office/drawing/2014/main" val="10000"/>
                  </a:ext>
                </a:extLst>
              </a:tr>
              <a:tr h="2520481">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t>Developed and deployed </a:t>
                      </a:r>
                      <a:r>
                        <a:rPr lang="en-US" sz="1800" dirty="0" err="1"/>
                        <a:t>MoodleBot</a:t>
                      </a:r>
                      <a:r>
                        <a:rPr lang="en-US" sz="1800" dirty="0"/>
                        <a:t>, an LLM-based chatbot using a Retrieval-Augmented Generation (RAG) architecture integrated into Moodle LMS, and evaluated it using the Technology Acceptance Model (TAM) and accuracy metrics.</a:t>
                      </a:r>
                    </a:p>
                    <a:p>
                      <a:pPr>
                        <a:lnSpc>
                          <a:spcPct val="100000"/>
                        </a:lnSpc>
                      </a:pP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6E7"/>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t>Achieved high perceived usefulness and ease of use, with 88% accuracy in answering course-related queries, effectively supporting self-regulated learning.</a:t>
                      </a:r>
                    </a:p>
                    <a:p>
                      <a:pPr algn="l">
                        <a:lnSpc>
                          <a:spcPct val="100000"/>
                        </a:lnSpc>
                      </a:pP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6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The solution remains effective but faces issues like hallucinations, bias, scalability, and missing a social-style platform for student interaction, which </a:t>
                      </a:r>
                      <a:r>
                        <a:rPr lang="en-US" sz="1800" dirty="0" err="1"/>
                        <a:t>CampusConnect</a:t>
                      </a:r>
                      <a:r>
                        <a:rPr lang="en-US" sz="1800" dirty="0"/>
                        <a:t> addresses.</a:t>
                      </a:r>
                    </a:p>
                    <a:p>
                      <a:pPr>
                        <a:lnSpc>
                          <a:spcPct val="100000"/>
                        </a:lnSpc>
                      </a:pP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6E7"/>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51618" rIns="0" bIns="0" rtlCol="0">
            <a:spAutoFit/>
          </a:bodyPr>
          <a:lstStyle/>
          <a:p>
            <a:pPr marL="1955800">
              <a:lnSpc>
                <a:spcPct val="100000"/>
              </a:lnSpc>
              <a:spcBef>
                <a:spcPts val="100"/>
              </a:spcBef>
            </a:pPr>
            <a:r>
              <a:rPr dirty="0"/>
              <a:t>Literature</a:t>
            </a:r>
            <a:r>
              <a:rPr spc="-85" dirty="0"/>
              <a:t> </a:t>
            </a:r>
            <a:r>
              <a:rPr dirty="0"/>
              <a:t>Survey</a:t>
            </a:r>
            <a:r>
              <a:rPr spc="-80" dirty="0"/>
              <a:t> </a:t>
            </a:r>
            <a:r>
              <a:rPr dirty="0"/>
              <a:t>-</a:t>
            </a:r>
            <a:r>
              <a:rPr spc="-80" dirty="0"/>
              <a:t> </a:t>
            </a:r>
            <a:r>
              <a:rPr spc="-25" dirty="0"/>
              <a:t>03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8</a:t>
            </a:fld>
            <a:endParaRPr spc="-25" dirty="0"/>
          </a:p>
        </p:txBody>
      </p:sp>
      <p:sp>
        <p:nvSpPr>
          <p:cNvPr id="3" name="object 3"/>
          <p:cNvSpPr txBox="1"/>
          <p:nvPr/>
        </p:nvSpPr>
        <p:spPr>
          <a:xfrm>
            <a:off x="546846" y="4846934"/>
            <a:ext cx="7974330" cy="1664495"/>
          </a:xfrm>
          <a:prstGeom prst="rect">
            <a:avLst/>
          </a:prstGeom>
        </p:spPr>
        <p:txBody>
          <a:bodyPr vert="horz" wrap="square" lIns="0" tIns="15240" rIns="0" bIns="0" rtlCol="0">
            <a:spAutoFit/>
          </a:bodyPr>
          <a:lstStyle/>
          <a:p>
            <a:pPr marL="344170" indent="-331470">
              <a:lnSpc>
                <a:spcPts val="2555"/>
              </a:lnSpc>
              <a:spcBef>
                <a:spcPts val="120"/>
              </a:spcBef>
              <a:buFont typeface="Arial"/>
              <a:buChar char="•"/>
              <a:tabLst>
                <a:tab pos="344170" algn="l"/>
              </a:tabLst>
            </a:pPr>
            <a:endParaRPr lang="en-US" sz="2200" b="1" spc="-10" dirty="0">
              <a:solidFill>
                <a:srgbClr val="002060"/>
              </a:solidFill>
              <a:latin typeface="Calibri"/>
              <a:cs typeface="Calibri"/>
            </a:endParaRPr>
          </a:p>
          <a:p>
            <a:pPr marL="355600" indent="-342900">
              <a:lnSpc>
                <a:spcPts val="2555"/>
              </a:lnSpc>
              <a:spcBef>
                <a:spcPts val="120"/>
              </a:spcBef>
              <a:buFont typeface="Arial" panose="020B0604020202020204" pitchFamily="34" charset="0"/>
              <a:buChar char="•"/>
              <a:tabLst>
                <a:tab pos="344170" algn="l"/>
              </a:tabLst>
            </a:pPr>
            <a:r>
              <a:rPr sz="2200" b="1" spc="-10" dirty="0">
                <a:solidFill>
                  <a:srgbClr val="002060"/>
                </a:solidFill>
                <a:latin typeface="Calibri"/>
                <a:cs typeface="Calibri"/>
              </a:rPr>
              <a:t>Source:</a:t>
            </a:r>
            <a:r>
              <a:rPr lang="en-US" sz="2200" b="1" spc="-10" dirty="0">
                <a:solidFill>
                  <a:srgbClr val="002060"/>
                </a:solidFill>
                <a:latin typeface="Calibri"/>
                <a:cs typeface="Calibri"/>
              </a:rPr>
              <a:t> </a:t>
            </a:r>
            <a:r>
              <a:rPr lang="en-US" dirty="0">
                <a:latin typeface="Calibri" panose="020F0502020204030204" pitchFamily="34" charset="0"/>
                <a:ea typeface="Calibri" panose="020F0502020204030204" pitchFamily="34" charset="0"/>
                <a:cs typeface="Calibri" panose="020F0502020204030204" pitchFamily="34" charset="0"/>
              </a:rPr>
              <a:t>William Villegas-Ch, Joselin García-Ortiz, and Santiago Sánchez-Viteri, “Application of Artificial Intelligence in Online Education: Influence of Student Participation on Academic Retention in Virtual Courses”, IEEE Access, May 2024, DOI: 10.1109/ACCESS.2024.3403758</a:t>
            </a:r>
            <a:r>
              <a:rPr lang="en-US" b="1" dirty="0">
                <a:solidFill>
                  <a:srgbClr val="002060"/>
                </a:solidFill>
              </a:rPr>
              <a:t>.</a:t>
            </a:r>
            <a:endParaRPr dirty="0">
              <a:latin typeface="Trebuchet MS"/>
              <a:cs typeface="Trebuchet MS"/>
            </a:endParaRPr>
          </a:p>
        </p:txBody>
      </p:sp>
      <p:graphicFrame>
        <p:nvGraphicFramePr>
          <p:cNvPr id="4" name="object 4"/>
          <p:cNvGraphicFramePr>
            <a:graphicFrameLocks noGrp="1"/>
          </p:cNvGraphicFramePr>
          <p:nvPr>
            <p:extLst>
              <p:ext uri="{D42A27DB-BD31-4B8C-83A1-F6EECF244321}">
                <p14:modId xmlns:p14="http://schemas.microsoft.com/office/powerpoint/2010/main" val="3590112470"/>
              </p:ext>
            </p:extLst>
          </p:nvPr>
        </p:nvGraphicFramePr>
        <p:xfrm>
          <a:off x="533400" y="1635125"/>
          <a:ext cx="7704455" cy="3602355"/>
        </p:xfrm>
        <a:graphic>
          <a:graphicData uri="http://schemas.openxmlformats.org/drawingml/2006/table">
            <a:tbl>
              <a:tblPr firstRow="1" bandRow="1">
                <a:tableStyleId>{2D5ABB26-0587-4C30-8999-92F81FD0307C}</a:tableStyleId>
              </a:tblPr>
              <a:tblGrid>
                <a:gridCol w="2712085">
                  <a:extLst>
                    <a:ext uri="{9D8B030D-6E8A-4147-A177-3AD203B41FA5}">
                      <a16:colId xmlns:a16="http://schemas.microsoft.com/office/drawing/2014/main" val="20000"/>
                    </a:ext>
                  </a:extLst>
                </a:gridCol>
                <a:gridCol w="2496185">
                  <a:extLst>
                    <a:ext uri="{9D8B030D-6E8A-4147-A177-3AD203B41FA5}">
                      <a16:colId xmlns:a16="http://schemas.microsoft.com/office/drawing/2014/main" val="20001"/>
                    </a:ext>
                  </a:extLst>
                </a:gridCol>
                <a:gridCol w="2496185">
                  <a:extLst>
                    <a:ext uri="{9D8B030D-6E8A-4147-A177-3AD203B41FA5}">
                      <a16:colId xmlns:a16="http://schemas.microsoft.com/office/drawing/2014/main" val="20002"/>
                    </a:ext>
                  </a:extLst>
                </a:gridCol>
              </a:tblGrid>
              <a:tr h="286734">
                <a:tc>
                  <a:txBody>
                    <a:bodyPr/>
                    <a:lstStyle/>
                    <a:p>
                      <a:pPr marL="805180">
                        <a:lnSpc>
                          <a:spcPct val="100000"/>
                        </a:lnSpc>
                        <a:spcBef>
                          <a:spcPts val="285"/>
                        </a:spcBef>
                      </a:pPr>
                      <a:r>
                        <a:rPr sz="1800" b="1" spc="-10" dirty="0">
                          <a:latin typeface="Calibri"/>
                          <a:cs typeface="Calibri"/>
                        </a:rPr>
                        <a:t>Experiment</a:t>
                      </a:r>
                      <a:endParaRPr sz="1800">
                        <a:latin typeface="Calibri"/>
                        <a:cs typeface="Calibri"/>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E81BD"/>
                    </a:solidFill>
                  </a:tcPr>
                </a:tc>
                <a:tc>
                  <a:txBody>
                    <a:bodyPr/>
                    <a:lstStyle/>
                    <a:p>
                      <a:pPr marL="795655">
                        <a:lnSpc>
                          <a:spcPct val="100000"/>
                        </a:lnSpc>
                        <a:spcBef>
                          <a:spcPts val="285"/>
                        </a:spcBef>
                      </a:pPr>
                      <a:r>
                        <a:rPr sz="1800" b="1" spc="-10" dirty="0">
                          <a:latin typeface="Calibri"/>
                          <a:cs typeface="Calibri"/>
                        </a:rPr>
                        <a:t>Inference</a:t>
                      </a:r>
                      <a:endParaRPr sz="1800">
                        <a:latin typeface="Calibri"/>
                        <a:cs typeface="Calibri"/>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E81BD"/>
                    </a:solidFill>
                  </a:tcPr>
                </a:tc>
                <a:tc>
                  <a:txBody>
                    <a:bodyPr/>
                    <a:lstStyle/>
                    <a:p>
                      <a:pPr marL="643255">
                        <a:lnSpc>
                          <a:spcPct val="100000"/>
                        </a:lnSpc>
                        <a:spcBef>
                          <a:spcPts val="285"/>
                        </a:spcBef>
                      </a:pPr>
                      <a:r>
                        <a:rPr sz="1800" b="1" dirty="0">
                          <a:latin typeface="Calibri"/>
                          <a:cs typeface="Calibri"/>
                        </a:rPr>
                        <a:t>Problem</a:t>
                      </a:r>
                      <a:r>
                        <a:rPr sz="1800" b="1" spc="-65" dirty="0">
                          <a:latin typeface="Calibri"/>
                          <a:cs typeface="Calibri"/>
                        </a:rPr>
                        <a:t> </a:t>
                      </a:r>
                      <a:r>
                        <a:rPr sz="1800" b="1" spc="-25" dirty="0">
                          <a:latin typeface="Calibri"/>
                          <a:cs typeface="Calibri"/>
                        </a:rPr>
                        <a:t>gap</a:t>
                      </a:r>
                      <a:endParaRPr sz="1800">
                        <a:latin typeface="Calibri"/>
                        <a:cs typeface="Calibri"/>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E81BD"/>
                    </a:solidFill>
                  </a:tcPr>
                </a:tc>
                <a:extLst>
                  <a:ext uri="{0D108BD9-81ED-4DB2-BD59-A6C34878D82A}">
                    <a16:rowId xmlns:a16="http://schemas.microsoft.com/office/drawing/2014/main" val="10000"/>
                  </a:ext>
                </a:extLst>
              </a:tr>
              <a:tr h="2925075">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800" dirty="0"/>
                        <a:t>Analyzed student participation in online courses using engagement data collected across multiple semesters. Applied time-series forecasting models (ARIMA and Prophet) to identify temporal patterns and critical factors influencing academic retention.</a:t>
                      </a:r>
                    </a:p>
                    <a:p>
                      <a:pPr>
                        <a:lnSpc>
                          <a:spcPct val="100000"/>
                        </a:lnSpc>
                      </a:pP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6E7"/>
                    </a:solidFill>
                  </a:tcPr>
                </a:tc>
                <a:tc>
                  <a:txBody>
                    <a:bodyPr/>
                    <a:lstStyle/>
                    <a:p>
                      <a:pPr>
                        <a:lnSpc>
                          <a:spcPct val="100000"/>
                        </a:lnSpc>
                      </a:pPr>
                      <a:r>
                        <a:rPr lang="en-US" sz="1800" dirty="0"/>
                        <a:t>Found that participation is highest at the beginning of courses but declines over time. Peer interaction, course length, and engagement strategies were key factors affecting student retention and performance in online education</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6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AI models found participation patterns, but lacked an interactive system for engagement, real-time support, and peer interaction—gaps filled by </a:t>
                      </a:r>
                      <a:r>
                        <a:rPr lang="en-US" sz="1800" dirty="0" err="1"/>
                        <a:t>CampusConnect’s</a:t>
                      </a:r>
                      <a:r>
                        <a:rPr lang="en-US" sz="1800" dirty="0"/>
                        <a:t> AI chatbot and community features.</a:t>
                      </a:r>
                    </a:p>
                    <a:p>
                      <a:endParaRPr lang="en-US" sz="1800" dirty="0"/>
                    </a:p>
                    <a:p>
                      <a:pPr>
                        <a:lnSpc>
                          <a:spcPct val="100000"/>
                        </a:lnSpc>
                      </a:pP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6E7"/>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51618" rIns="0" bIns="0" rtlCol="0">
            <a:spAutoFit/>
          </a:bodyPr>
          <a:lstStyle/>
          <a:p>
            <a:pPr marL="1955800">
              <a:lnSpc>
                <a:spcPct val="100000"/>
              </a:lnSpc>
              <a:spcBef>
                <a:spcPts val="100"/>
              </a:spcBef>
            </a:pPr>
            <a:r>
              <a:rPr dirty="0"/>
              <a:t>Literature</a:t>
            </a:r>
            <a:r>
              <a:rPr spc="-85" dirty="0"/>
              <a:t> </a:t>
            </a:r>
            <a:r>
              <a:rPr dirty="0"/>
              <a:t>Survey</a:t>
            </a:r>
            <a:r>
              <a:rPr spc="-80" dirty="0"/>
              <a:t> </a:t>
            </a:r>
            <a:r>
              <a:rPr dirty="0"/>
              <a:t>-</a:t>
            </a:r>
            <a:r>
              <a:rPr spc="-80" dirty="0"/>
              <a:t> </a:t>
            </a:r>
            <a:r>
              <a:rPr spc="-25" dirty="0"/>
              <a:t>04</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9</a:t>
            </a:fld>
            <a:endParaRPr spc="-25" dirty="0"/>
          </a:p>
        </p:txBody>
      </p:sp>
      <p:sp>
        <p:nvSpPr>
          <p:cNvPr id="3" name="object 3"/>
          <p:cNvSpPr txBox="1"/>
          <p:nvPr/>
        </p:nvSpPr>
        <p:spPr>
          <a:xfrm>
            <a:off x="556227" y="4621321"/>
            <a:ext cx="7974330" cy="1652119"/>
          </a:xfrm>
          <a:prstGeom prst="rect">
            <a:avLst/>
          </a:prstGeom>
        </p:spPr>
        <p:txBody>
          <a:bodyPr vert="horz" wrap="square" lIns="0" tIns="15240" rIns="0" bIns="0" rtlCol="0">
            <a:spAutoFit/>
          </a:bodyPr>
          <a:lstStyle/>
          <a:p>
            <a:pPr marL="344170" indent="-331470">
              <a:lnSpc>
                <a:spcPts val="2555"/>
              </a:lnSpc>
              <a:spcBef>
                <a:spcPts val="120"/>
              </a:spcBef>
              <a:buFont typeface="Arial"/>
              <a:buChar char="•"/>
              <a:tabLst>
                <a:tab pos="344170" algn="l"/>
              </a:tabLst>
            </a:pPr>
            <a:r>
              <a:rPr sz="2200" b="1" spc="-10" dirty="0">
                <a:solidFill>
                  <a:srgbClr val="002060"/>
                </a:solidFill>
                <a:latin typeface="Calibri"/>
                <a:cs typeface="Calibri"/>
              </a:rPr>
              <a:t>Source:</a:t>
            </a:r>
            <a:r>
              <a:rPr lang="en-US" sz="2200" b="1" spc="-10" dirty="0">
                <a:solidFill>
                  <a:srgbClr val="002060"/>
                </a:solidFill>
                <a:latin typeface="Calibri"/>
                <a:cs typeface="Calibri"/>
              </a:rPr>
              <a:t> </a:t>
            </a:r>
            <a:r>
              <a:rPr lang="en-US" dirty="0"/>
              <a:t>Mohammad Amin </a:t>
            </a:r>
            <a:r>
              <a:rPr lang="en-US" dirty="0" err="1"/>
              <a:t>Kuhail</a:t>
            </a:r>
            <a:r>
              <a:rPr lang="en-US" dirty="0"/>
              <a:t>, Mohamed Bahja, Ons Al-</a:t>
            </a:r>
            <a:r>
              <a:rPr lang="en-US" dirty="0" err="1"/>
              <a:t>Shamaileh</a:t>
            </a:r>
            <a:r>
              <a:rPr lang="en-US" dirty="0"/>
              <a:t>, Justin Thomas, Amina </a:t>
            </a:r>
            <a:r>
              <a:rPr lang="en-US" dirty="0" err="1"/>
              <a:t>Alkazemi</a:t>
            </a:r>
            <a:r>
              <a:rPr lang="en-US" dirty="0"/>
              <a:t>, and Joao Negreiros, “Assessing the Impact of Chatbot-Human Personality Congruence on User Behavior: A Chatbot-Based Advising System Case”, IEEE Access, May 2024, DOI: 10.1109/ACCESS.2024.3402977.</a:t>
            </a:r>
            <a:endParaRPr dirty="0">
              <a:latin typeface="Trebuchet MS"/>
              <a:cs typeface="Trebuchet MS"/>
            </a:endParaRPr>
          </a:p>
        </p:txBody>
      </p:sp>
      <p:graphicFrame>
        <p:nvGraphicFramePr>
          <p:cNvPr id="4" name="object 4"/>
          <p:cNvGraphicFramePr>
            <a:graphicFrameLocks noGrp="1"/>
          </p:cNvGraphicFramePr>
          <p:nvPr>
            <p:extLst>
              <p:ext uri="{D42A27DB-BD31-4B8C-83A1-F6EECF244321}">
                <p14:modId xmlns:p14="http://schemas.microsoft.com/office/powerpoint/2010/main" val="1784098308"/>
              </p:ext>
            </p:extLst>
          </p:nvPr>
        </p:nvGraphicFramePr>
        <p:xfrm>
          <a:off x="533400" y="1635125"/>
          <a:ext cx="7704455" cy="2979420"/>
        </p:xfrm>
        <a:graphic>
          <a:graphicData uri="http://schemas.openxmlformats.org/drawingml/2006/table">
            <a:tbl>
              <a:tblPr firstRow="1" bandRow="1">
                <a:tableStyleId>{2D5ABB26-0587-4C30-8999-92F81FD0307C}</a:tableStyleId>
              </a:tblPr>
              <a:tblGrid>
                <a:gridCol w="2712085">
                  <a:extLst>
                    <a:ext uri="{9D8B030D-6E8A-4147-A177-3AD203B41FA5}">
                      <a16:colId xmlns:a16="http://schemas.microsoft.com/office/drawing/2014/main" val="20000"/>
                    </a:ext>
                  </a:extLst>
                </a:gridCol>
                <a:gridCol w="2496185">
                  <a:extLst>
                    <a:ext uri="{9D8B030D-6E8A-4147-A177-3AD203B41FA5}">
                      <a16:colId xmlns:a16="http://schemas.microsoft.com/office/drawing/2014/main" val="20001"/>
                    </a:ext>
                  </a:extLst>
                </a:gridCol>
                <a:gridCol w="2496185">
                  <a:extLst>
                    <a:ext uri="{9D8B030D-6E8A-4147-A177-3AD203B41FA5}">
                      <a16:colId xmlns:a16="http://schemas.microsoft.com/office/drawing/2014/main" val="20002"/>
                    </a:ext>
                  </a:extLst>
                </a:gridCol>
              </a:tblGrid>
              <a:tr h="367665">
                <a:tc>
                  <a:txBody>
                    <a:bodyPr/>
                    <a:lstStyle/>
                    <a:p>
                      <a:pPr marL="805180">
                        <a:lnSpc>
                          <a:spcPct val="100000"/>
                        </a:lnSpc>
                        <a:spcBef>
                          <a:spcPts val="285"/>
                        </a:spcBef>
                      </a:pPr>
                      <a:r>
                        <a:rPr sz="1800" b="1" spc="-10" dirty="0">
                          <a:latin typeface="Calibri"/>
                          <a:cs typeface="Calibri"/>
                        </a:rPr>
                        <a:t>Experiment</a:t>
                      </a:r>
                      <a:endParaRPr sz="1800">
                        <a:latin typeface="Calibri"/>
                        <a:cs typeface="Calibri"/>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4E81BD"/>
                    </a:solidFill>
                  </a:tcPr>
                </a:tc>
                <a:tc>
                  <a:txBody>
                    <a:bodyPr/>
                    <a:lstStyle/>
                    <a:p>
                      <a:pPr marL="795655">
                        <a:lnSpc>
                          <a:spcPct val="100000"/>
                        </a:lnSpc>
                        <a:spcBef>
                          <a:spcPts val="285"/>
                        </a:spcBef>
                      </a:pPr>
                      <a:r>
                        <a:rPr sz="1800" b="1" spc="-10" dirty="0">
                          <a:latin typeface="Calibri"/>
                          <a:cs typeface="Calibri"/>
                        </a:rPr>
                        <a:t>Inference</a:t>
                      </a:r>
                      <a:endParaRPr sz="1800">
                        <a:latin typeface="Calibri"/>
                        <a:cs typeface="Calibri"/>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4E81BD"/>
                    </a:solidFill>
                  </a:tcPr>
                </a:tc>
                <a:tc>
                  <a:txBody>
                    <a:bodyPr/>
                    <a:lstStyle/>
                    <a:p>
                      <a:pPr marL="643255">
                        <a:lnSpc>
                          <a:spcPct val="100000"/>
                        </a:lnSpc>
                        <a:spcBef>
                          <a:spcPts val="285"/>
                        </a:spcBef>
                      </a:pPr>
                      <a:r>
                        <a:rPr sz="1800" b="1" dirty="0">
                          <a:latin typeface="Calibri"/>
                          <a:cs typeface="Calibri"/>
                        </a:rPr>
                        <a:t>Problem</a:t>
                      </a:r>
                      <a:r>
                        <a:rPr sz="1800" b="1" spc="-65" dirty="0">
                          <a:latin typeface="Calibri"/>
                          <a:cs typeface="Calibri"/>
                        </a:rPr>
                        <a:t> </a:t>
                      </a:r>
                      <a:r>
                        <a:rPr sz="1800" b="1" spc="-25" dirty="0">
                          <a:latin typeface="Calibri"/>
                          <a:cs typeface="Calibri"/>
                        </a:rPr>
                        <a:t>gap</a:t>
                      </a:r>
                      <a:endParaRPr sz="1800">
                        <a:latin typeface="Calibri"/>
                        <a:cs typeface="Calibri"/>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4E81BD"/>
                    </a:solidFill>
                  </a:tcPr>
                </a:tc>
                <a:extLst>
                  <a:ext uri="{0D108BD9-81ED-4DB2-BD59-A6C34878D82A}">
                    <a16:rowId xmlns:a16="http://schemas.microsoft.com/office/drawing/2014/main" val="10000"/>
                  </a:ext>
                </a:extLst>
              </a:tr>
              <a:tr h="2611755">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Studied how chatbot-human personality match affects behavior, with 54 students using chatbots of three personalities; measured engagement, trust, and use intention via surveys and interviews.</a:t>
                      </a:r>
                    </a:p>
                  </a:txBody>
                  <a:tcPr marL="91436" marR="91436" marT="45716" marB="45716">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6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Findings showed personality congruence boosted trust and engagement, especially for extroverted users, while effects were minimal for conscientious and agreeable participants.</a:t>
                      </a:r>
                    </a:p>
                  </a:txBody>
                  <a:tcPr marL="91436" marR="91436" marT="45716" marB="45716">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6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Personality congruence boosted trust but was limited to small, fixed settings; </a:t>
                      </a:r>
                      <a:r>
                        <a:rPr lang="en-US" dirty="0" err="1"/>
                        <a:t>CampusConnect</a:t>
                      </a:r>
                      <a:r>
                        <a:rPr lang="en-US" dirty="0"/>
                        <a:t> fills this gap with dynamic, personalized chatbot responses for lasting engagement.</a:t>
                      </a:r>
                    </a:p>
                  </a:txBody>
                  <a:tcPr marL="91436" marR="91436" marT="45716" marB="45716">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6E7"/>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51618" rIns="0" bIns="0" rtlCol="0">
            <a:spAutoFit/>
          </a:bodyPr>
          <a:lstStyle/>
          <a:p>
            <a:pPr marL="1955800">
              <a:lnSpc>
                <a:spcPct val="100000"/>
              </a:lnSpc>
              <a:spcBef>
                <a:spcPts val="100"/>
              </a:spcBef>
            </a:pPr>
            <a:r>
              <a:rPr dirty="0"/>
              <a:t>Literature</a:t>
            </a:r>
            <a:r>
              <a:rPr spc="-85" dirty="0"/>
              <a:t> </a:t>
            </a:r>
            <a:r>
              <a:rPr dirty="0"/>
              <a:t>Survey</a:t>
            </a:r>
            <a:r>
              <a:rPr spc="-80" dirty="0"/>
              <a:t> </a:t>
            </a:r>
            <a:r>
              <a:rPr dirty="0"/>
              <a:t>-</a:t>
            </a:r>
            <a:r>
              <a:rPr spc="-80" dirty="0"/>
              <a:t> </a:t>
            </a:r>
            <a:r>
              <a:rPr spc="-25" dirty="0"/>
              <a:t>05</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10</a:t>
            </a:fld>
            <a:endParaRPr spc="-25" dirty="0"/>
          </a:p>
        </p:txBody>
      </p:sp>
      <p:sp>
        <p:nvSpPr>
          <p:cNvPr id="3" name="object 3"/>
          <p:cNvSpPr txBox="1"/>
          <p:nvPr/>
        </p:nvSpPr>
        <p:spPr>
          <a:xfrm>
            <a:off x="546846" y="4846934"/>
            <a:ext cx="7974330" cy="985270"/>
          </a:xfrm>
          <a:prstGeom prst="rect">
            <a:avLst/>
          </a:prstGeom>
        </p:spPr>
        <p:txBody>
          <a:bodyPr vert="horz" wrap="square" lIns="0" tIns="15240" rIns="0" bIns="0" rtlCol="0">
            <a:spAutoFit/>
          </a:bodyPr>
          <a:lstStyle/>
          <a:p>
            <a:pPr marL="344170" indent="-331470">
              <a:lnSpc>
                <a:spcPts val="2555"/>
              </a:lnSpc>
              <a:spcBef>
                <a:spcPts val="120"/>
              </a:spcBef>
              <a:buFont typeface="Arial"/>
              <a:buChar char="•"/>
              <a:tabLst>
                <a:tab pos="344170" algn="l"/>
              </a:tabLst>
            </a:pPr>
            <a:r>
              <a:rPr sz="2200" b="1" spc="-10" dirty="0">
                <a:solidFill>
                  <a:srgbClr val="002060"/>
                </a:solidFill>
                <a:latin typeface="Calibri"/>
                <a:cs typeface="Calibri"/>
              </a:rPr>
              <a:t>Source:</a:t>
            </a:r>
            <a:r>
              <a:rPr lang="en-US" sz="2200" b="1" spc="-10" dirty="0">
                <a:solidFill>
                  <a:srgbClr val="002060"/>
                </a:solidFill>
                <a:latin typeface="Calibri"/>
                <a:cs typeface="Calibri"/>
              </a:rPr>
              <a:t> </a:t>
            </a:r>
            <a:r>
              <a:rPr lang="en-US" dirty="0" err="1"/>
              <a:t>Nazzere</a:t>
            </a:r>
            <a:r>
              <a:rPr lang="en-US" dirty="0"/>
              <a:t> </a:t>
            </a:r>
            <a:r>
              <a:rPr lang="en-US" dirty="0" err="1"/>
              <a:t>Oryngozha</a:t>
            </a:r>
            <a:r>
              <a:rPr lang="en-US" dirty="0"/>
              <a:t>, </a:t>
            </a:r>
            <a:r>
              <a:rPr lang="en-US" dirty="0" err="1"/>
              <a:t>Pakizar</a:t>
            </a:r>
            <a:r>
              <a:rPr lang="en-US" dirty="0"/>
              <a:t> Shamoi, and Ayan Igali, “Detection and Analysis of Stress-Related Posts in Reddit’s Academic Communities”, IEEE Access, Jan 2024, DOI: 10.1109/ACCESS.2024.3357662.</a:t>
            </a:r>
            <a:endParaRPr dirty="0">
              <a:latin typeface="Trebuchet MS"/>
              <a:cs typeface="Trebuchet MS"/>
            </a:endParaRPr>
          </a:p>
        </p:txBody>
      </p:sp>
      <p:graphicFrame>
        <p:nvGraphicFramePr>
          <p:cNvPr id="4" name="object 4"/>
          <p:cNvGraphicFramePr>
            <a:graphicFrameLocks noGrp="1"/>
          </p:cNvGraphicFramePr>
          <p:nvPr>
            <p:extLst>
              <p:ext uri="{D42A27DB-BD31-4B8C-83A1-F6EECF244321}">
                <p14:modId xmlns:p14="http://schemas.microsoft.com/office/powerpoint/2010/main" val="2908927445"/>
              </p:ext>
            </p:extLst>
          </p:nvPr>
        </p:nvGraphicFramePr>
        <p:xfrm>
          <a:off x="533400" y="1635125"/>
          <a:ext cx="7704455" cy="2979420"/>
        </p:xfrm>
        <a:graphic>
          <a:graphicData uri="http://schemas.openxmlformats.org/drawingml/2006/table">
            <a:tbl>
              <a:tblPr firstRow="1" bandRow="1">
                <a:tableStyleId>{2D5ABB26-0587-4C30-8999-92F81FD0307C}</a:tableStyleId>
              </a:tblPr>
              <a:tblGrid>
                <a:gridCol w="2712085">
                  <a:extLst>
                    <a:ext uri="{9D8B030D-6E8A-4147-A177-3AD203B41FA5}">
                      <a16:colId xmlns:a16="http://schemas.microsoft.com/office/drawing/2014/main" val="20000"/>
                    </a:ext>
                  </a:extLst>
                </a:gridCol>
                <a:gridCol w="2496185">
                  <a:extLst>
                    <a:ext uri="{9D8B030D-6E8A-4147-A177-3AD203B41FA5}">
                      <a16:colId xmlns:a16="http://schemas.microsoft.com/office/drawing/2014/main" val="20001"/>
                    </a:ext>
                  </a:extLst>
                </a:gridCol>
                <a:gridCol w="2496185">
                  <a:extLst>
                    <a:ext uri="{9D8B030D-6E8A-4147-A177-3AD203B41FA5}">
                      <a16:colId xmlns:a16="http://schemas.microsoft.com/office/drawing/2014/main" val="20002"/>
                    </a:ext>
                  </a:extLst>
                </a:gridCol>
              </a:tblGrid>
              <a:tr h="367665">
                <a:tc>
                  <a:txBody>
                    <a:bodyPr/>
                    <a:lstStyle/>
                    <a:p>
                      <a:pPr marL="805180">
                        <a:lnSpc>
                          <a:spcPct val="100000"/>
                        </a:lnSpc>
                        <a:spcBef>
                          <a:spcPts val="285"/>
                        </a:spcBef>
                      </a:pPr>
                      <a:r>
                        <a:rPr sz="1800" b="1" spc="-10" dirty="0">
                          <a:latin typeface="Calibri"/>
                          <a:cs typeface="Calibri"/>
                        </a:rPr>
                        <a:t>Experiment</a:t>
                      </a:r>
                      <a:endParaRPr sz="1800">
                        <a:latin typeface="Calibri"/>
                        <a:cs typeface="Calibri"/>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4E81BD"/>
                    </a:solidFill>
                  </a:tcPr>
                </a:tc>
                <a:tc>
                  <a:txBody>
                    <a:bodyPr/>
                    <a:lstStyle/>
                    <a:p>
                      <a:pPr marL="795655">
                        <a:lnSpc>
                          <a:spcPct val="100000"/>
                        </a:lnSpc>
                        <a:spcBef>
                          <a:spcPts val="285"/>
                        </a:spcBef>
                      </a:pPr>
                      <a:r>
                        <a:rPr sz="1800" b="1" spc="-10" dirty="0">
                          <a:latin typeface="Calibri"/>
                          <a:cs typeface="Calibri"/>
                        </a:rPr>
                        <a:t>Inference</a:t>
                      </a:r>
                      <a:endParaRPr sz="1800">
                        <a:latin typeface="Calibri"/>
                        <a:cs typeface="Calibri"/>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4E81BD"/>
                    </a:solidFill>
                  </a:tcPr>
                </a:tc>
                <a:tc>
                  <a:txBody>
                    <a:bodyPr/>
                    <a:lstStyle/>
                    <a:p>
                      <a:pPr marL="643255">
                        <a:lnSpc>
                          <a:spcPct val="100000"/>
                        </a:lnSpc>
                        <a:spcBef>
                          <a:spcPts val="285"/>
                        </a:spcBef>
                      </a:pPr>
                      <a:r>
                        <a:rPr sz="1800" b="1" dirty="0">
                          <a:latin typeface="Calibri"/>
                          <a:cs typeface="Calibri"/>
                        </a:rPr>
                        <a:t>Problem</a:t>
                      </a:r>
                      <a:r>
                        <a:rPr sz="1800" b="1" spc="-65" dirty="0">
                          <a:latin typeface="Calibri"/>
                          <a:cs typeface="Calibri"/>
                        </a:rPr>
                        <a:t> </a:t>
                      </a:r>
                      <a:r>
                        <a:rPr sz="1800" b="1" spc="-25" dirty="0">
                          <a:latin typeface="Calibri"/>
                          <a:cs typeface="Calibri"/>
                        </a:rPr>
                        <a:t>gap</a:t>
                      </a:r>
                      <a:endParaRPr sz="1800">
                        <a:latin typeface="Calibri"/>
                        <a:cs typeface="Calibri"/>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4E81BD"/>
                    </a:solidFill>
                  </a:tcPr>
                </a:tc>
                <a:extLst>
                  <a:ext uri="{0D108BD9-81ED-4DB2-BD59-A6C34878D82A}">
                    <a16:rowId xmlns:a16="http://schemas.microsoft.com/office/drawing/2014/main" val="10000"/>
                  </a:ext>
                </a:extLst>
              </a:tr>
              <a:tr h="2611755">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Applied NLP with Bag of Words + Logistic Regression on the </a:t>
                      </a:r>
                      <a:r>
                        <a:rPr lang="en-US" dirty="0" err="1"/>
                        <a:t>Dreaddit</a:t>
                      </a:r>
                      <a:r>
                        <a:rPr lang="en-US" dirty="0"/>
                        <a:t> dataset to detect stress in Reddit academic posts, achieving 77.78% accuracy (F1=0.79) and 72% on manual validation.</a:t>
                      </a:r>
                    </a:p>
                  </a:txBody>
                  <a:tcPr marL="91436" marR="91436" marT="45716" marB="45716">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6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study found ~29% of academic subreddit posts show stress, highest in professors’ communities, highlighting ML’s value for early stress detection in online discussions.</a:t>
                      </a:r>
                    </a:p>
                  </a:txBody>
                  <a:tcPr marL="91436" marR="91436" marT="45716" marB="45716">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6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model was limited to Reddit text and simple validation, while </a:t>
                      </a:r>
                      <a:r>
                        <a:rPr lang="en-US" dirty="0" err="1"/>
                        <a:t>CampusConnect</a:t>
                      </a:r>
                      <a:r>
                        <a:rPr lang="en-US" dirty="0"/>
                        <a:t> adds AI chatbots for real-time stress detection and support.</a:t>
                      </a:r>
                    </a:p>
                  </a:txBody>
                  <a:tcPr marL="91436" marR="91436" marT="45716" marB="45716">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6E7"/>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51618" rIns="0" bIns="0" rtlCol="0">
            <a:spAutoFit/>
          </a:bodyPr>
          <a:lstStyle/>
          <a:p>
            <a:pPr marL="908050">
              <a:lnSpc>
                <a:spcPct val="100000"/>
              </a:lnSpc>
              <a:spcBef>
                <a:spcPts val="100"/>
              </a:spcBef>
            </a:pPr>
            <a:r>
              <a:rPr dirty="0"/>
              <a:t>Existing</a:t>
            </a:r>
            <a:r>
              <a:rPr spc="-105" dirty="0"/>
              <a:t> </a:t>
            </a:r>
            <a:r>
              <a:rPr dirty="0"/>
              <a:t>technology</a:t>
            </a:r>
            <a:r>
              <a:rPr spc="-100" dirty="0"/>
              <a:t> </a:t>
            </a:r>
            <a:r>
              <a:rPr dirty="0"/>
              <a:t>of</a:t>
            </a:r>
            <a:r>
              <a:rPr spc="-100" dirty="0"/>
              <a:t> </a:t>
            </a:r>
            <a:r>
              <a:rPr dirty="0"/>
              <a:t>the</a:t>
            </a:r>
            <a:r>
              <a:rPr spc="-100" dirty="0"/>
              <a:t> </a:t>
            </a:r>
            <a:r>
              <a:rPr spc="-10" dirty="0"/>
              <a:t>project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11</a:t>
            </a:fld>
            <a:endParaRPr spc="-25" dirty="0"/>
          </a:p>
        </p:txBody>
      </p:sp>
      <p:sp>
        <p:nvSpPr>
          <p:cNvPr id="9" name="TextBox 8">
            <a:extLst>
              <a:ext uri="{FF2B5EF4-FFF2-40B4-BE49-F238E27FC236}">
                <a16:creationId xmlns:a16="http://schemas.microsoft.com/office/drawing/2014/main" id="{168F900C-D2B8-0B56-7A4B-1C1044A1969C}"/>
              </a:ext>
            </a:extLst>
          </p:cNvPr>
          <p:cNvSpPr txBox="1"/>
          <p:nvPr/>
        </p:nvSpPr>
        <p:spPr>
          <a:xfrm>
            <a:off x="304800" y="-849094"/>
            <a:ext cx="8534400" cy="7109639"/>
          </a:xfrm>
          <a:prstGeom prst="rect">
            <a:avLst/>
          </a:prstGeom>
          <a:noFill/>
        </p:spPr>
        <p:txBody>
          <a:bodyPr wrap="square">
            <a:spAutoFit/>
          </a:bodyPr>
          <a:lstStyle/>
          <a:p>
            <a:pPr marL="171450" indent="-171450">
              <a:buFont typeface="Arial" panose="020B0604020202020204" pitchFamily="34" charset="0"/>
              <a:buChar char="•"/>
            </a:pPr>
            <a:endParaRPr lang="en-US" sz="800" dirty="0"/>
          </a:p>
          <a:p>
            <a:pPr marL="285750" indent="-285750">
              <a:buFont typeface="Arial" panose="020B0604020202020204" pitchFamily="34" charset="0"/>
              <a:buChar char="•"/>
            </a:pPr>
            <a:endParaRPr lang="en-US" sz="1800" dirty="0">
              <a:solidFill>
                <a:srgbClr val="FF0000"/>
              </a:solidFill>
            </a:endParaRPr>
          </a:p>
          <a:p>
            <a:pPr marL="285750" indent="-285750">
              <a:buFont typeface="Arial" panose="020B0604020202020204" pitchFamily="34" charset="0"/>
              <a:buChar char="•"/>
            </a:pPr>
            <a:endParaRPr lang="en-US" dirty="0">
              <a:solidFill>
                <a:srgbClr val="FF0000"/>
              </a:solidFill>
            </a:endParaRPr>
          </a:p>
          <a:p>
            <a:pPr marL="285750" indent="-285750">
              <a:buFont typeface="Arial" panose="020B0604020202020204" pitchFamily="34" charset="0"/>
              <a:buChar char="•"/>
            </a:pPr>
            <a:endParaRPr lang="en-US" sz="1800" dirty="0">
              <a:solidFill>
                <a:srgbClr val="FF0000"/>
              </a:solidFill>
            </a:endParaRPr>
          </a:p>
          <a:p>
            <a:pPr marL="285750" indent="-285750">
              <a:buFont typeface="Arial" panose="020B0604020202020204" pitchFamily="34" charset="0"/>
              <a:buChar char="•"/>
            </a:pPr>
            <a:endParaRPr lang="en-US" dirty="0">
              <a:solidFill>
                <a:srgbClr val="FF0000"/>
              </a:solidFill>
            </a:endParaRPr>
          </a:p>
          <a:p>
            <a:pPr marL="285750" indent="-285750">
              <a:buFont typeface="Arial" panose="020B0604020202020204" pitchFamily="34" charset="0"/>
              <a:buChar char="•"/>
            </a:pPr>
            <a:endParaRPr lang="en-US" sz="1800" dirty="0">
              <a:solidFill>
                <a:srgbClr val="FF0000"/>
              </a:solidFill>
            </a:endParaRPr>
          </a:p>
          <a:p>
            <a:pPr marL="285750" indent="-285750">
              <a:buFont typeface="Arial" panose="020B0604020202020204" pitchFamily="34" charset="0"/>
              <a:buChar char="•"/>
            </a:pPr>
            <a:endParaRPr lang="en-US" dirty="0">
              <a:solidFill>
                <a:srgbClr val="FF0000"/>
              </a:solidFill>
            </a:endParaRPr>
          </a:p>
          <a:p>
            <a:pPr marL="285750" indent="-285750">
              <a:buFont typeface="Arial" panose="020B0604020202020204" pitchFamily="34" charset="0"/>
              <a:buChar char="•"/>
            </a:pPr>
            <a:endParaRPr lang="en-US" sz="1800" dirty="0">
              <a:solidFill>
                <a:srgbClr val="FF0000"/>
              </a:solidFill>
            </a:endParaRPr>
          </a:p>
          <a:p>
            <a:pPr marL="285750" indent="-285750">
              <a:buFont typeface="Arial" panose="020B0604020202020204" pitchFamily="34" charset="0"/>
              <a:buChar char="•"/>
            </a:pPr>
            <a:endParaRPr lang="en-US" dirty="0">
              <a:solidFill>
                <a:srgbClr val="FF0000"/>
              </a:solidFill>
            </a:endParaRPr>
          </a:p>
          <a:p>
            <a:pPr marL="285750" indent="-285750">
              <a:buFont typeface="Arial" panose="020B0604020202020204" pitchFamily="34" charset="0"/>
              <a:buChar char="•"/>
            </a:pPr>
            <a:endParaRPr lang="en-US" sz="1800" dirty="0">
              <a:solidFill>
                <a:srgbClr val="FF0000"/>
              </a:solidFill>
            </a:endParaRPr>
          </a:p>
          <a:p>
            <a:pPr marL="285750" indent="-285750">
              <a:buFont typeface="Arial" panose="020B0604020202020204" pitchFamily="34" charset="0"/>
              <a:buChar char="•"/>
            </a:pPr>
            <a:r>
              <a:rPr lang="en-US" sz="1800" dirty="0">
                <a:solidFill>
                  <a:srgbClr val="FF0000"/>
                </a:solidFill>
              </a:rPr>
              <a:t>Personality-Adapted Chatbots: Chatbots that adjust their tone, language, and responses based on user personality traits to create better engagement.</a:t>
            </a:r>
          </a:p>
          <a:p>
            <a:pPr marL="285750" indent="-285750">
              <a:buFont typeface="Arial" panose="020B0604020202020204" pitchFamily="34" charset="0"/>
              <a:buChar char="•"/>
            </a:pPr>
            <a:r>
              <a:rPr lang="en-US" sz="1800" dirty="0">
                <a:solidFill>
                  <a:srgbClr val="FF0000"/>
                </a:solidFill>
              </a:rPr>
              <a:t>Educational Advising Bots: Chatbots used as virtual academic advisors that can respond to student queries about curriculum, scheduling, and institutional policies.</a:t>
            </a:r>
          </a:p>
          <a:p>
            <a:pPr marL="285750" indent="-285750">
              <a:buFont typeface="Arial" panose="020B0604020202020204" pitchFamily="34" charset="0"/>
              <a:buChar char="•"/>
            </a:pPr>
            <a:r>
              <a:rPr lang="en-US" sz="1800" dirty="0">
                <a:solidFill>
                  <a:srgbClr val="FF0000"/>
                </a:solidFill>
              </a:rPr>
              <a:t>User Behavior Analysis: Systems that evaluate how users interact with different chatbot personalities to improve UX and retention.</a:t>
            </a:r>
          </a:p>
          <a:p>
            <a:pPr marL="285750" indent="-285750">
              <a:buFont typeface="Arial" panose="020B0604020202020204" pitchFamily="34" charset="0"/>
              <a:buChar char="•"/>
            </a:pPr>
            <a:r>
              <a:rPr lang="en-US" sz="1800" dirty="0">
                <a:solidFill>
                  <a:srgbClr val="FF0000"/>
                </a:solidFill>
              </a:rPr>
              <a:t>Emotionally Congruent Interfaces: Development of chatbot interfaces and response patterns that feel more “human,” improving user satisfaction and interaction depth.</a:t>
            </a:r>
          </a:p>
          <a:p>
            <a:endParaRPr lang="en-US" sz="1800" dirty="0"/>
          </a:p>
          <a:p>
            <a:pPr marL="0" indent="0">
              <a:buNone/>
            </a:pPr>
            <a:endParaRPr lang="en-US" sz="800" dirty="0"/>
          </a:p>
          <a:p>
            <a:pPr marL="0" indent="0">
              <a:buNone/>
            </a:pPr>
            <a:endParaRPr lang="en-US" sz="1600" dirty="0"/>
          </a:p>
          <a:p>
            <a:pPr marL="0" indent="0">
              <a:buNone/>
            </a:pPr>
            <a:r>
              <a:rPr lang="en-US" sz="1600" dirty="0">
                <a:solidFill>
                  <a:srgbClr val="FF0000"/>
                </a:solidFill>
              </a:rPr>
              <a:t>Source: </a:t>
            </a:r>
            <a:r>
              <a:rPr lang="en-US" sz="1600" dirty="0"/>
              <a:t>“Assessing the Impact of Chatbot-Human Personality Congruence on User Behavior: A Chatbot-Based Advising System Case”, Mohammad Amin </a:t>
            </a:r>
            <a:r>
              <a:rPr lang="en-US" sz="1600" dirty="0" err="1"/>
              <a:t>Kuhail</a:t>
            </a:r>
            <a:r>
              <a:rPr lang="en-US" sz="1600" dirty="0"/>
              <a:t>, Mohamed Bahja, Ons Al-</a:t>
            </a:r>
            <a:r>
              <a:rPr lang="en-US" sz="1600" dirty="0" err="1"/>
              <a:t>Shamaileh</a:t>
            </a:r>
            <a:r>
              <a:rPr lang="en-US" sz="1600" dirty="0"/>
              <a:t>, Justin Thomas, Amina </a:t>
            </a:r>
            <a:r>
              <a:rPr lang="en-US" sz="1600" dirty="0" err="1"/>
              <a:t>Alkazemi</a:t>
            </a:r>
            <a:r>
              <a:rPr lang="en-US" sz="1600" dirty="0"/>
              <a:t>, and Joao Negreiros, IEEE Access, Vol. 12, No. –, pp. –, 2024. (Scopus Indexed)</a:t>
            </a:r>
            <a:endParaRPr lang="en-US" sz="8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51618" rIns="0" bIns="0" rtlCol="0">
            <a:spAutoFit/>
          </a:bodyPr>
          <a:lstStyle/>
          <a:p>
            <a:pPr marL="908050">
              <a:lnSpc>
                <a:spcPct val="100000"/>
              </a:lnSpc>
              <a:spcBef>
                <a:spcPts val="100"/>
              </a:spcBef>
            </a:pPr>
            <a:r>
              <a:rPr dirty="0"/>
              <a:t>Existing</a:t>
            </a:r>
            <a:r>
              <a:rPr spc="-105" dirty="0"/>
              <a:t> </a:t>
            </a:r>
            <a:r>
              <a:rPr dirty="0"/>
              <a:t>technology</a:t>
            </a:r>
            <a:r>
              <a:rPr spc="-100" dirty="0"/>
              <a:t> </a:t>
            </a:r>
            <a:r>
              <a:rPr dirty="0"/>
              <a:t>of</a:t>
            </a:r>
            <a:r>
              <a:rPr spc="-100" dirty="0"/>
              <a:t> </a:t>
            </a:r>
            <a:r>
              <a:rPr dirty="0"/>
              <a:t>the</a:t>
            </a:r>
            <a:r>
              <a:rPr spc="-100" dirty="0"/>
              <a:t> </a:t>
            </a:r>
            <a:r>
              <a:rPr spc="-10" dirty="0"/>
              <a:t>project</a:t>
            </a:r>
          </a:p>
        </p:txBody>
      </p:sp>
      <p:pic>
        <p:nvPicPr>
          <p:cNvPr id="3" name="object 3"/>
          <p:cNvPicPr/>
          <p:nvPr/>
        </p:nvPicPr>
        <p:blipFill>
          <a:blip r:embed="rId2" cstate="print"/>
          <a:stretch>
            <a:fillRect/>
          </a:stretch>
        </p:blipFill>
        <p:spPr>
          <a:xfrm>
            <a:off x="553833" y="1735345"/>
            <a:ext cx="1390577" cy="267970"/>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12</a:t>
            </a:fld>
            <a:endParaRPr spc="-25" dirty="0"/>
          </a:p>
        </p:txBody>
      </p:sp>
      <p:pic>
        <p:nvPicPr>
          <p:cNvPr id="5" name="Picture 4">
            <a:extLst>
              <a:ext uri="{FF2B5EF4-FFF2-40B4-BE49-F238E27FC236}">
                <a16:creationId xmlns:a16="http://schemas.microsoft.com/office/drawing/2014/main" id="{8DE2B37E-2ADD-DBEE-E79D-9A62692AC6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980" y="2132856"/>
            <a:ext cx="8018040" cy="38164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7012" rIns="0" bIns="0" rtlCol="0">
            <a:spAutoFit/>
          </a:bodyPr>
          <a:lstStyle/>
          <a:p>
            <a:pPr marL="1274445">
              <a:lnSpc>
                <a:spcPct val="100000"/>
              </a:lnSpc>
              <a:spcBef>
                <a:spcPts val="100"/>
              </a:spcBef>
            </a:pPr>
            <a:r>
              <a:rPr spc="-10" dirty="0"/>
              <a:t>Methodology</a:t>
            </a:r>
            <a:r>
              <a:rPr spc="-65" dirty="0"/>
              <a:t> </a:t>
            </a:r>
            <a:r>
              <a:rPr dirty="0"/>
              <a:t>to</a:t>
            </a:r>
            <a:r>
              <a:rPr spc="-65" dirty="0"/>
              <a:t> </a:t>
            </a:r>
            <a:r>
              <a:rPr dirty="0"/>
              <a:t>be</a:t>
            </a:r>
            <a:r>
              <a:rPr spc="-65" dirty="0"/>
              <a:t> </a:t>
            </a:r>
            <a:r>
              <a:rPr spc="-10" dirty="0"/>
              <a:t>adopted</a:t>
            </a:r>
          </a:p>
        </p:txBody>
      </p:sp>
      <p:pic>
        <p:nvPicPr>
          <p:cNvPr id="3" name="object 3"/>
          <p:cNvPicPr/>
          <p:nvPr/>
        </p:nvPicPr>
        <p:blipFill>
          <a:blip r:embed="rId2" cstate="print"/>
          <a:stretch>
            <a:fillRect/>
          </a:stretch>
        </p:blipFill>
        <p:spPr>
          <a:xfrm>
            <a:off x="348153" y="1647760"/>
            <a:ext cx="1231007" cy="207158"/>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13</a:t>
            </a:fld>
            <a:endParaRPr spc="-25" dirty="0"/>
          </a:p>
        </p:txBody>
      </p:sp>
      <p:pic>
        <p:nvPicPr>
          <p:cNvPr id="5" name="Picture 4">
            <a:extLst>
              <a:ext uri="{FF2B5EF4-FFF2-40B4-BE49-F238E27FC236}">
                <a16:creationId xmlns:a16="http://schemas.microsoft.com/office/drawing/2014/main" id="{1DA07012-12A0-CC36-D937-03D3EDD8F6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68688" y="1500189"/>
            <a:ext cx="2133599" cy="485616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7012" rIns="0" bIns="0" rtlCol="0">
            <a:spAutoFit/>
          </a:bodyPr>
          <a:lstStyle/>
          <a:p>
            <a:pPr marL="664845">
              <a:lnSpc>
                <a:spcPct val="100000"/>
              </a:lnSpc>
              <a:spcBef>
                <a:spcPts val="100"/>
              </a:spcBef>
            </a:pPr>
            <a:r>
              <a:rPr dirty="0"/>
              <a:t>Timeline</a:t>
            </a:r>
            <a:r>
              <a:rPr spc="-80" dirty="0"/>
              <a:t> </a:t>
            </a:r>
            <a:r>
              <a:rPr dirty="0"/>
              <a:t>of</a:t>
            </a:r>
            <a:r>
              <a:rPr spc="-80" dirty="0"/>
              <a:t> </a:t>
            </a:r>
            <a:r>
              <a:rPr dirty="0"/>
              <a:t>the</a:t>
            </a:r>
            <a:r>
              <a:rPr spc="-80" dirty="0"/>
              <a:t> </a:t>
            </a:r>
            <a:r>
              <a:rPr dirty="0"/>
              <a:t>Project</a:t>
            </a:r>
            <a:r>
              <a:rPr spc="-80" dirty="0"/>
              <a:t> </a:t>
            </a:r>
            <a:r>
              <a:rPr dirty="0"/>
              <a:t>and</a:t>
            </a:r>
            <a:r>
              <a:rPr spc="-80" dirty="0"/>
              <a:t> </a:t>
            </a:r>
            <a:r>
              <a:rPr spc="-10" dirty="0"/>
              <a:t>Budget</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14</a:t>
            </a:fld>
            <a:endParaRPr spc="-25" dirty="0"/>
          </a:p>
        </p:txBody>
      </p:sp>
      <p:pic>
        <p:nvPicPr>
          <p:cNvPr id="5" name="Picture 4">
            <a:extLst>
              <a:ext uri="{FF2B5EF4-FFF2-40B4-BE49-F238E27FC236}">
                <a16:creationId xmlns:a16="http://schemas.microsoft.com/office/drawing/2014/main" id="{384C4F50-FA72-A071-3230-035FBA4072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62" y="1628800"/>
            <a:ext cx="7924676" cy="452915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7012" rIns="0" bIns="0" rtlCol="0">
            <a:spAutoFit/>
          </a:bodyPr>
          <a:lstStyle/>
          <a:p>
            <a:pPr marL="1388745">
              <a:lnSpc>
                <a:spcPct val="100000"/>
              </a:lnSpc>
              <a:spcBef>
                <a:spcPts val="100"/>
              </a:spcBef>
            </a:pPr>
            <a:r>
              <a:rPr dirty="0"/>
              <a:t>Design</a:t>
            </a:r>
            <a:r>
              <a:rPr spc="-75" dirty="0"/>
              <a:t> </a:t>
            </a:r>
            <a:r>
              <a:rPr dirty="0"/>
              <a:t>&amp;</a:t>
            </a:r>
            <a:r>
              <a:rPr spc="-70" dirty="0"/>
              <a:t> </a:t>
            </a:r>
            <a:r>
              <a:rPr spc="-10" dirty="0"/>
              <a:t>Experimentation</a:t>
            </a: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15</a:t>
            </a:fld>
            <a:endParaRPr spc="-25" dirty="0"/>
          </a:p>
        </p:txBody>
      </p:sp>
      <p:sp>
        <p:nvSpPr>
          <p:cNvPr id="5" name="TextBox 4">
            <a:extLst>
              <a:ext uri="{FF2B5EF4-FFF2-40B4-BE49-F238E27FC236}">
                <a16:creationId xmlns:a16="http://schemas.microsoft.com/office/drawing/2014/main" id="{EE147845-28A8-36A3-30F4-B953EAC6BB85}"/>
              </a:ext>
            </a:extLst>
          </p:cNvPr>
          <p:cNvSpPr txBox="1"/>
          <p:nvPr/>
        </p:nvSpPr>
        <p:spPr>
          <a:xfrm>
            <a:off x="304799" y="1520785"/>
            <a:ext cx="8534399" cy="3816429"/>
          </a:xfrm>
          <a:prstGeom prst="rect">
            <a:avLst/>
          </a:prstGeom>
          <a:noFill/>
        </p:spPr>
        <p:txBody>
          <a:bodyPr wrap="square">
            <a:spAutoFit/>
          </a:bodyPr>
          <a:lstStyle/>
          <a:p>
            <a:pPr marL="342900" indent="-342900">
              <a:buFont typeface="Arial" panose="020B0604020202020204" pitchFamily="34" charset="0"/>
              <a:buChar char="•"/>
            </a:pPr>
            <a:endParaRPr lang="en-IN" sz="2200" dirty="0">
              <a:latin typeface="+mn-lt"/>
            </a:endParaRPr>
          </a:p>
          <a:p>
            <a:pPr marL="342900" indent="-342900">
              <a:buFont typeface="Arial" panose="020B0604020202020204" pitchFamily="34" charset="0"/>
              <a:buChar char="•"/>
            </a:pPr>
            <a:endParaRPr lang="en-IN" sz="2200" dirty="0">
              <a:latin typeface="+mn-lt"/>
            </a:endParaRPr>
          </a:p>
          <a:p>
            <a:pPr marL="342900" indent="-342900">
              <a:buFont typeface="Arial" panose="020B0604020202020204" pitchFamily="34" charset="0"/>
              <a:buChar char="•"/>
            </a:pPr>
            <a:r>
              <a:rPr lang="en-IN" sz="2200" dirty="0">
                <a:latin typeface="+mn-lt"/>
              </a:rPr>
              <a:t>Designed a modular Flask + Firebase architecture for secure authentication, real-time posts, and role management.</a:t>
            </a:r>
          </a:p>
          <a:p>
            <a:pPr marL="342900" indent="-342900">
              <a:buFont typeface="Arial" panose="020B0604020202020204" pitchFamily="34" charset="0"/>
              <a:buChar char="•"/>
            </a:pPr>
            <a:r>
              <a:rPr lang="en-IN" sz="2200" dirty="0">
                <a:latin typeface="+mn-lt"/>
              </a:rPr>
              <a:t>Developed and tested a Facebook-style dashboard with posting, likes, comments, and delete features.</a:t>
            </a:r>
          </a:p>
          <a:p>
            <a:pPr marL="342900" indent="-342900">
              <a:buFont typeface="Arial" panose="020B0604020202020204" pitchFamily="34" charset="0"/>
              <a:buChar char="•"/>
            </a:pPr>
            <a:r>
              <a:rPr lang="en-IN" sz="2200" dirty="0">
                <a:latin typeface="+mn-lt"/>
              </a:rPr>
              <a:t>Integrated and refined an AI chatbot (SREC Bot) with a modern, responsive UI.</a:t>
            </a:r>
          </a:p>
          <a:p>
            <a:pPr marL="342900" indent="-342900">
              <a:buFont typeface="Arial" panose="020B0604020202020204" pitchFamily="34" charset="0"/>
              <a:buChar char="•"/>
            </a:pPr>
            <a:r>
              <a:rPr lang="en-IN" sz="2200" dirty="0">
                <a:latin typeface="+mn-lt"/>
              </a:rPr>
              <a:t>Added user profile, notifications/events, and admin controls.</a:t>
            </a:r>
          </a:p>
          <a:p>
            <a:pPr marL="342900" indent="-342900">
              <a:buFont typeface="Arial" panose="020B0604020202020204" pitchFamily="34" charset="0"/>
              <a:buChar char="•"/>
            </a:pPr>
            <a:r>
              <a:rPr lang="en-IN" sz="2200" dirty="0">
                <a:latin typeface="+mn-lt"/>
              </a:rPr>
              <a:t>Iteratively improved UI/UX and security based on panel feedback and testing.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7012" rIns="0" bIns="0" rtlCol="0">
            <a:spAutoFit/>
          </a:bodyPr>
          <a:lstStyle/>
          <a:p>
            <a:pPr marL="1493520">
              <a:lnSpc>
                <a:spcPct val="100000"/>
              </a:lnSpc>
              <a:spcBef>
                <a:spcPts val="100"/>
              </a:spcBef>
            </a:pPr>
            <a:r>
              <a:rPr dirty="0"/>
              <a:t>Results</a:t>
            </a:r>
            <a:r>
              <a:rPr spc="-105" dirty="0"/>
              <a:t> </a:t>
            </a:r>
            <a:r>
              <a:rPr dirty="0"/>
              <a:t>obtained</a:t>
            </a:r>
            <a:r>
              <a:rPr spc="-100" dirty="0"/>
              <a:t> </a:t>
            </a:r>
            <a:r>
              <a:rPr dirty="0"/>
              <a:t>till</a:t>
            </a:r>
            <a:r>
              <a:rPr spc="-105" dirty="0"/>
              <a:t> </a:t>
            </a:r>
            <a:r>
              <a:rPr spc="-20" dirty="0"/>
              <a:t>date</a:t>
            </a: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16</a:t>
            </a:fld>
            <a:endParaRPr spc="-25" dirty="0"/>
          </a:p>
        </p:txBody>
      </p:sp>
      <p:sp>
        <p:nvSpPr>
          <p:cNvPr id="5" name="TextBox 4">
            <a:extLst>
              <a:ext uri="{FF2B5EF4-FFF2-40B4-BE49-F238E27FC236}">
                <a16:creationId xmlns:a16="http://schemas.microsoft.com/office/drawing/2014/main" id="{F7F24890-25CD-D09D-9AF5-40D8AD68E6B1}"/>
              </a:ext>
            </a:extLst>
          </p:cNvPr>
          <p:cNvSpPr txBox="1"/>
          <p:nvPr/>
        </p:nvSpPr>
        <p:spPr>
          <a:xfrm>
            <a:off x="228600" y="197346"/>
            <a:ext cx="8402939" cy="5816977"/>
          </a:xfrm>
          <a:prstGeom prst="rect">
            <a:avLst/>
          </a:prstGeom>
          <a:noFill/>
        </p:spPr>
        <p:txBody>
          <a:bodyPr wrap="square">
            <a:spAutoFit/>
          </a:bodyPr>
          <a:lstStyle/>
          <a:p>
            <a:endParaRPr lang="en-IN" dirty="0"/>
          </a:p>
          <a:p>
            <a:endParaRPr lang="en-IN" dirty="0"/>
          </a:p>
          <a:p>
            <a:endParaRPr lang="en-IN" dirty="0"/>
          </a:p>
          <a:p>
            <a:endParaRPr lang="en-IN" dirty="0"/>
          </a:p>
          <a:p>
            <a:pPr marL="342900" indent="-342900">
              <a:buFont typeface="Arial" panose="020B0604020202020204" pitchFamily="34" charset="0"/>
              <a:buChar char="•"/>
            </a:pPr>
            <a:endParaRPr lang="en-IN" sz="2000" dirty="0"/>
          </a:p>
          <a:p>
            <a:pPr marL="285750" indent="-285750">
              <a:buFont typeface="Arial" panose="020B0604020202020204" pitchFamily="34" charset="0"/>
              <a:buChar char="•"/>
            </a:pPr>
            <a:r>
              <a:rPr lang="en-IN" sz="2000" dirty="0">
                <a:latin typeface="+mn-lt"/>
              </a:rPr>
              <a:t>Successfully developed a secure login and signup system using Firebase Authentication with integrated role management (student/admin).</a:t>
            </a:r>
          </a:p>
          <a:p>
            <a:pPr marL="285750" indent="-285750">
              <a:buFont typeface="Arial" panose="020B0604020202020204" pitchFamily="34" charset="0"/>
              <a:buChar char="•"/>
            </a:pPr>
            <a:r>
              <a:rPr lang="en-IN" sz="2000" dirty="0">
                <a:latin typeface="+mn-lt"/>
              </a:rPr>
              <a:t>Implemented a responsive social dashboard, similar to popular platforms, where users can create posts, comment, like, and delete their own posts, all updates reflected in real-time via Firebase Realtime Database.</a:t>
            </a:r>
          </a:p>
          <a:p>
            <a:pPr marL="285750" indent="-285750">
              <a:buFont typeface="Arial" panose="020B0604020202020204" pitchFamily="34" charset="0"/>
              <a:buChar char="•"/>
            </a:pPr>
            <a:r>
              <a:rPr lang="en-IN" sz="2000" dirty="0">
                <a:latin typeface="+mn-lt"/>
              </a:rPr>
              <a:t>Designed an AI-powered chatbot (SREC Bot) that answers user queries, styled with a modern UI and integrating ethical/academic guidelines suggested by panel members.</a:t>
            </a:r>
          </a:p>
          <a:p>
            <a:pPr marL="285750" indent="-285750">
              <a:buFont typeface="Arial" panose="020B0604020202020204" pitchFamily="34" charset="0"/>
              <a:buChar char="•"/>
            </a:pPr>
            <a:r>
              <a:rPr lang="en-IN" sz="2000" dirty="0">
                <a:latin typeface="+mn-lt"/>
              </a:rPr>
              <a:t>Added user-centric features: personal profile section (avatar, post count), events/notifications panel, and admin-level controls.</a:t>
            </a:r>
          </a:p>
          <a:p>
            <a:pPr marL="285750" indent="-285750">
              <a:buFont typeface="Arial" panose="020B0604020202020204" pitchFamily="34" charset="0"/>
              <a:buChar char="•"/>
            </a:pPr>
            <a:r>
              <a:rPr lang="en-IN" sz="2000" dirty="0">
                <a:latin typeface="+mn-lt"/>
              </a:rPr>
              <a:t>All user actions are instant, with seamless UI/UX across desktop and mobile.</a:t>
            </a:r>
          </a:p>
          <a:p>
            <a:pPr marL="285750" indent="-285750">
              <a:buFont typeface="Arial" panose="020B0604020202020204" pitchFamily="34" charset="0"/>
              <a:buChar char="•"/>
            </a:pPr>
            <a:endParaRPr lang="en-IN" sz="2000" dirty="0">
              <a:latin typeface="+mn-lt"/>
            </a:endParaRPr>
          </a:p>
          <a:p>
            <a:r>
              <a:rPr lang="en-IN" sz="2000" dirty="0">
                <a:latin typeface="+mn-lt"/>
              </a:rPr>
              <a:t>Project architecture and features have been iteratively refined based on review feedback and best practices for security, accessibility, and engagement.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7012" rIns="0" bIns="0" rtlCol="0">
            <a:spAutoFit/>
          </a:bodyPr>
          <a:lstStyle/>
          <a:p>
            <a:pPr marL="1617345">
              <a:lnSpc>
                <a:spcPct val="100000"/>
              </a:lnSpc>
              <a:spcBef>
                <a:spcPts val="100"/>
              </a:spcBef>
            </a:pPr>
            <a:r>
              <a:rPr dirty="0"/>
              <a:t>Works</a:t>
            </a:r>
            <a:r>
              <a:rPr spc="-75" dirty="0"/>
              <a:t> </a:t>
            </a:r>
            <a:r>
              <a:rPr dirty="0"/>
              <a:t>to</a:t>
            </a:r>
            <a:r>
              <a:rPr spc="-70" dirty="0"/>
              <a:t> </a:t>
            </a:r>
            <a:r>
              <a:rPr dirty="0"/>
              <a:t>be</a:t>
            </a:r>
            <a:r>
              <a:rPr spc="-70" dirty="0"/>
              <a:t> </a:t>
            </a:r>
            <a:r>
              <a:rPr dirty="0"/>
              <a:t>carried</a:t>
            </a:r>
            <a:r>
              <a:rPr spc="-75" dirty="0"/>
              <a:t> </a:t>
            </a:r>
            <a:r>
              <a:rPr spc="-25" dirty="0"/>
              <a:t>out</a:t>
            </a: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17</a:t>
            </a:fld>
            <a:endParaRPr spc="-25" dirty="0"/>
          </a:p>
        </p:txBody>
      </p:sp>
      <p:sp>
        <p:nvSpPr>
          <p:cNvPr id="5" name="TextBox 4">
            <a:extLst>
              <a:ext uri="{FF2B5EF4-FFF2-40B4-BE49-F238E27FC236}">
                <a16:creationId xmlns:a16="http://schemas.microsoft.com/office/drawing/2014/main" id="{AE31F981-8A72-D5AF-09FE-49F0B9459D84}"/>
              </a:ext>
            </a:extLst>
          </p:cNvPr>
          <p:cNvSpPr txBox="1"/>
          <p:nvPr/>
        </p:nvSpPr>
        <p:spPr>
          <a:xfrm>
            <a:off x="152400" y="-1603147"/>
            <a:ext cx="8610600" cy="7817525"/>
          </a:xfrm>
          <a:prstGeom prst="rect">
            <a:avLst/>
          </a:prstGeom>
          <a:noFill/>
        </p:spPr>
        <p:txBody>
          <a:bodyPr wrap="square">
            <a:spAutoFit/>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285750" indent="-285750">
              <a:buFont typeface="Arial" panose="020B0604020202020204" pitchFamily="34" charset="0"/>
              <a:buChar char="•"/>
            </a:pPr>
            <a:endParaRPr lang="en-IN" dirty="0"/>
          </a:p>
          <a:p>
            <a:pPr marL="285750" indent="-285750" algn="l">
              <a:buFont typeface="Arial" panose="020B0604020202020204" pitchFamily="34" charset="0"/>
              <a:buChar char="•"/>
            </a:pPr>
            <a:r>
              <a:rPr lang="en-IN" sz="1600" dirty="0">
                <a:latin typeface="+mn-lt"/>
              </a:rPr>
              <a:t>Implement Image and Media </a:t>
            </a:r>
            <a:r>
              <a:rPr lang="en-IN" sz="1600" dirty="0" err="1">
                <a:latin typeface="+mn-lt"/>
              </a:rPr>
              <a:t>UploadAdd</a:t>
            </a:r>
            <a:r>
              <a:rPr lang="en-IN" sz="1600" dirty="0">
                <a:latin typeface="+mn-lt"/>
              </a:rPr>
              <a:t> the ability for users to upload and share images or other media content in posts (as storage/budget allows).</a:t>
            </a:r>
          </a:p>
          <a:p>
            <a:pPr marL="285750" indent="-285750" algn="l">
              <a:buFont typeface="Arial" panose="020B0604020202020204" pitchFamily="34" charset="0"/>
              <a:buChar char="•"/>
            </a:pPr>
            <a:r>
              <a:rPr lang="en-IN" sz="1600" dirty="0">
                <a:latin typeface="+mn-lt"/>
              </a:rPr>
              <a:t>Enhance Chatbot Intelligence and Knowledge </a:t>
            </a:r>
            <a:r>
              <a:rPr lang="en-IN" sz="1600" dirty="0" err="1">
                <a:latin typeface="+mn-lt"/>
              </a:rPr>
              <a:t>Base.Integrate</a:t>
            </a:r>
            <a:r>
              <a:rPr lang="en-IN" sz="1600" dirty="0">
                <a:latin typeface="+mn-lt"/>
              </a:rPr>
              <a:t> additional academic resources, SREC FAQs, or campus-specific datasets so the SREC Bot can answer with more accuracy and provide campus event reminders or academic deadlines.</a:t>
            </a:r>
          </a:p>
          <a:p>
            <a:pPr marL="285750" indent="-285750" algn="l">
              <a:buFont typeface="Arial" panose="020B0604020202020204" pitchFamily="34" charset="0"/>
              <a:buChar char="•"/>
            </a:pPr>
            <a:r>
              <a:rPr lang="en-IN" sz="1600" dirty="0">
                <a:latin typeface="+mn-lt"/>
              </a:rPr>
              <a:t>Real-Time Notifications &amp; </a:t>
            </a:r>
            <a:r>
              <a:rPr lang="en-IN" sz="1600" dirty="0" err="1">
                <a:latin typeface="+mn-lt"/>
              </a:rPr>
              <a:t>EventsExpand</a:t>
            </a:r>
            <a:r>
              <a:rPr lang="en-IN" sz="1600" dirty="0">
                <a:latin typeface="+mn-lt"/>
              </a:rPr>
              <a:t> the notifications/events panel to deliver real-time alerts for post likes, comments, replies, direct messages, and upcoming institutional events.</a:t>
            </a:r>
          </a:p>
          <a:p>
            <a:pPr marL="285750" indent="-285750" algn="l">
              <a:buFont typeface="Arial" panose="020B0604020202020204" pitchFamily="34" charset="0"/>
              <a:buChar char="•"/>
            </a:pPr>
            <a:r>
              <a:rPr lang="en-IN" sz="1600" dirty="0">
                <a:latin typeface="+mn-lt"/>
              </a:rPr>
              <a:t>Profile Enhancement and Edit </a:t>
            </a:r>
            <a:r>
              <a:rPr lang="en-IN" sz="1600" dirty="0" err="1">
                <a:latin typeface="+mn-lt"/>
              </a:rPr>
              <a:t>OptionAllow</a:t>
            </a:r>
            <a:r>
              <a:rPr lang="en-IN" sz="1600" dirty="0">
                <a:latin typeface="+mn-lt"/>
              </a:rPr>
              <a:t> users to edit profile details, add profile pictures, and customize their visible information.</a:t>
            </a:r>
          </a:p>
          <a:p>
            <a:pPr marL="285750" indent="-285750" algn="l">
              <a:buFont typeface="Arial" panose="020B0604020202020204" pitchFamily="34" charset="0"/>
              <a:buChar char="•"/>
            </a:pPr>
            <a:r>
              <a:rPr lang="en-IN" sz="1600" dirty="0">
                <a:latin typeface="+mn-lt"/>
              </a:rPr>
              <a:t>Advanced Moderation and </a:t>
            </a:r>
            <a:r>
              <a:rPr lang="en-IN" sz="1600" dirty="0" err="1">
                <a:latin typeface="+mn-lt"/>
              </a:rPr>
              <a:t>ReportingAdd</a:t>
            </a:r>
            <a:r>
              <a:rPr lang="en-IN" sz="1600" dirty="0">
                <a:latin typeface="+mn-lt"/>
              </a:rPr>
              <a:t> post/content reporting, flagging, and moderation tools for better community safety and compliance.</a:t>
            </a:r>
          </a:p>
          <a:p>
            <a:pPr marL="285750" indent="-285750" algn="l">
              <a:buFont typeface="Arial" panose="020B0604020202020204" pitchFamily="34" charset="0"/>
              <a:buChar char="•"/>
            </a:pPr>
            <a:r>
              <a:rPr lang="en-IN" sz="1600" dirty="0">
                <a:latin typeface="+mn-lt"/>
              </a:rPr>
              <a:t>Mobile Responsiveness and </a:t>
            </a:r>
            <a:r>
              <a:rPr lang="en-IN" sz="1600" dirty="0" err="1">
                <a:latin typeface="+mn-lt"/>
              </a:rPr>
              <a:t>AccessibilityTest</a:t>
            </a:r>
            <a:r>
              <a:rPr lang="en-IN" sz="1600" dirty="0">
                <a:latin typeface="+mn-lt"/>
              </a:rPr>
              <a:t> and refine the UI for full functionality across all device sizes, screen readers, and accessibility standards.</a:t>
            </a:r>
          </a:p>
          <a:p>
            <a:pPr marL="285750" indent="-285750" algn="l">
              <a:buFont typeface="Arial" panose="020B0604020202020204" pitchFamily="34" charset="0"/>
              <a:buChar char="•"/>
            </a:pPr>
            <a:r>
              <a:rPr lang="en-IN" sz="1600" dirty="0">
                <a:latin typeface="+mn-lt"/>
              </a:rPr>
              <a:t>Performance Optimization and </a:t>
            </a:r>
            <a:r>
              <a:rPr lang="en-IN" sz="1600" dirty="0" err="1">
                <a:latin typeface="+mn-lt"/>
              </a:rPr>
              <a:t>TestingConduct</a:t>
            </a:r>
            <a:r>
              <a:rPr lang="en-IN" sz="1600" dirty="0">
                <a:latin typeface="+mn-lt"/>
              </a:rPr>
              <a:t> full-scale load testing, fix any remaining bugs, and optimize for speed and reliability.</a:t>
            </a:r>
          </a:p>
          <a:p>
            <a:pPr marL="285750" indent="-285750" algn="l">
              <a:buFont typeface="Arial" panose="020B0604020202020204" pitchFamily="34" charset="0"/>
              <a:buChar char="•"/>
            </a:pPr>
            <a:r>
              <a:rPr lang="en-IN" sz="1600" dirty="0">
                <a:latin typeface="+mn-lt"/>
              </a:rPr>
              <a:t>Social Integration and Sharing </a:t>
            </a:r>
            <a:r>
              <a:rPr lang="en-IN" sz="1600" dirty="0" err="1">
                <a:latin typeface="+mn-lt"/>
              </a:rPr>
              <a:t>OptionsEnable</a:t>
            </a:r>
            <a:r>
              <a:rPr lang="en-IN" sz="1600" dirty="0">
                <a:latin typeface="+mn-lt"/>
              </a:rPr>
              <a:t> optional external sharing to communication platforms or institutional groups, and add group/project spaces if needed.</a:t>
            </a:r>
          </a:p>
          <a:p>
            <a:pPr marL="285750" indent="-285750" algn="l">
              <a:buFont typeface="Arial" panose="020B0604020202020204" pitchFamily="34" charset="0"/>
              <a:buChar char="•"/>
            </a:pPr>
            <a:r>
              <a:rPr lang="en-IN" sz="1600" dirty="0">
                <a:latin typeface="+mn-lt"/>
              </a:rPr>
              <a:t>Documentation and User </a:t>
            </a:r>
            <a:r>
              <a:rPr lang="en-IN" sz="1600" dirty="0" err="1">
                <a:latin typeface="+mn-lt"/>
              </a:rPr>
              <a:t>ManualCreate</a:t>
            </a:r>
            <a:r>
              <a:rPr lang="en-IN" sz="1600" dirty="0">
                <a:latin typeface="+mn-lt"/>
              </a:rPr>
              <a:t> comprehensive technical and user documentation for faculty, new users, and project evaluators.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7012" rIns="0" bIns="0" rtlCol="0">
            <a:spAutoFit/>
          </a:bodyPr>
          <a:lstStyle/>
          <a:p>
            <a:pPr marL="1312545">
              <a:lnSpc>
                <a:spcPct val="100000"/>
              </a:lnSpc>
              <a:spcBef>
                <a:spcPts val="100"/>
              </a:spcBef>
            </a:pPr>
            <a:r>
              <a:rPr dirty="0"/>
              <a:t>Proposed</a:t>
            </a:r>
            <a:r>
              <a:rPr spc="-114" dirty="0"/>
              <a:t> </a:t>
            </a:r>
            <a:r>
              <a:rPr dirty="0"/>
              <a:t>Project</a:t>
            </a:r>
            <a:r>
              <a:rPr spc="-110" dirty="0"/>
              <a:t> </a:t>
            </a:r>
            <a:r>
              <a:rPr spc="-10" dirty="0"/>
              <a:t>Outcome</a:t>
            </a: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18</a:t>
            </a:fld>
            <a:endParaRPr spc="-25" dirty="0"/>
          </a:p>
        </p:txBody>
      </p:sp>
      <p:sp>
        <p:nvSpPr>
          <p:cNvPr id="5" name="TextBox 4">
            <a:extLst>
              <a:ext uri="{FF2B5EF4-FFF2-40B4-BE49-F238E27FC236}">
                <a16:creationId xmlns:a16="http://schemas.microsoft.com/office/drawing/2014/main" id="{F28895C8-EE48-6F8C-21B2-555DC0AE77FC}"/>
              </a:ext>
            </a:extLst>
          </p:cNvPr>
          <p:cNvSpPr txBox="1"/>
          <p:nvPr/>
        </p:nvSpPr>
        <p:spPr>
          <a:xfrm>
            <a:off x="228600" y="-1905000"/>
            <a:ext cx="8915400" cy="8263801"/>
          </a:xfrm>
          <a:prstGeom prst="rect">
            <a:avLst/>
          </a:prstGeom>
          <a:noFill/>
        </p:spPr>
        <p:txBody>
          <a:bodyPr wrap="square">
            <a:spAutoFit/>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285750" indent="-285750">
              <a:buFont typeface="Arial" panose="020B0604020202020204" pitchFamily="34" charset="0"/>
              <a:buChar char="•"/>
            </a:pPr>
            <a:endParaRPr lang="en-IN" sz="1400" dirty="0"/>
          </a:p>
          <a:p>
            <a:pPr algn="l"/>
            <a:endParaRPr lang="en-IN" sz="1500" dirty="0"/>
          </a:p>
          <a:p>
            <a:pPr algn="l"/>
            <a:r>
              <a:rPr lang="en-IN" sz="1600" dirty="0">
                <a:latin typeface="+mn-lt"/>
              </a:rPr>
              <a:t>Campus-Specific Social Platform: Deliver a secure, modern, and interactive social media platform tailored for SREC students and staff, enabling academic and social communication in a controlled environment.</a:t>
            </a:r>
          </a:p>
          <a:p>
            <a:pPr marL="285750" indent="-285750" algn="l">
              <a:buFont typeface="Arial" panose="020B0604020202020204" pitchFamily="34" charset="0"/>
              <a:buChar char="•"/>
            </a:pPr>
            <a:r>
              <a:rPr lang="en-IN" sz="1600" dirty="0">
                <a:latin typeface="+mn-lt"/>
              </a:rPr>
              <a:t>AI-powered Support: Provide a 24x7 AI chatbot assistant (SREC Bot) offering instant, context-aware support for academic queries, campus guidance, and peer engagement, aligned with ethical and institutional guidelines.</a:t>
            </a:r>
          </a:p>
          <a:p>
            <a:pPr marL="285750" indent="-285750" algn="l">
              <a:buFont typeface="Arial" panose="020B0604020202020204" pitchFamily="34" charset="0"/>
              <a:buChar char="•"/>
            </a:pPr>
            <a:r>
              <a:rPr lang="en-IN" sz="1600" dirty="0">
                <a:latin typeface="+mn-lt"/>
              </a:rPr>
              <a:t>Enhanced Engagement and Digital Literacy: Foster digital communication, event participation, and peer collaboration through likes, comments, notifications, and user profiles, helping students become more digitally skilled and engaged.</a:t>
            </a:r>
          </a:p>
          <a:p>
            <a:pPr marL="285750" indent="-285750" algn="l">
              <a:buFont typeface="Arial" panose="020B0604020202020204" pitchFamily="34" charset="0"/>
              <a:buChar char="•"/>
            </a:pPr>
            <a:r>
              <a:rPr lang="en-IN" sz="1600" dirty="0">
                <a:latin typeface="+mn-lt"/>
              </a:rPr>
              <a:t>Scalable and Extensible Infrastructure: Lay the groundwork for advanced features—such as media uploads, real-time events, group collaboration spaces, content moderation, and mobile-first design—to support future institutional needs.</a:t>
            </a:r>
          </a:p>
          <a:p>
            <a:pPr marL="285750" indent="-285750" algn="l">
              <a:buFont typeface="Arial" panose="020B0604020202020204" pitchFamily="34" charset="0"/>
              <a:buChar char="•"/>
            </a:pPr>
            <a:r>
              <a:rPr lang="en-IN" sz="1600" dirty="0">
                <a:latin typeface="+mn-lt"/>
              </a:rPr>
              <a:t>Model for EdTech </a:t>
            </a:r>
            <a:r>
              <a:rPr lang="en-IN" sz="1600" dirty="0" err="1">
                <a:latin typeface="+mn-lt"/>
              </a:rPr>
              <a:t>Integration:Demonstrate</a:t>
            </a:r>
            <a:r>
              <a:rPr lang="en-IN" sz="1600" dirty="0">
                <a:latin typeface="+mn-lt"/>
              </a:rPr>
              <a:t> successful integration of AI, real-time cloud databases, and modern UX—serving as a model for similar educational institutions wishing to blend innovation with academic safety and control.</a:t>
            </a:r>
          </a:p>
          <a:p>
            <a:pPr marL="285750" indent="-285750" algn="l">
              <a:buFont typeface="Arial" panose="020B0604020202020204" pitchFamily="34" charset="0"/>
              <a:buChar char="•"/>
            </a:pPr>
            <a:r>
              <a:rPr lang="en-IN" sz="1600" dirty="0">
                <a:latin typeface="+mn-lt"/>
              </a:rPr>
              <a:t> Academic Impact: Enable real-world learning and technical skill-building among the student developers, assisting in research, hackathons, presentations, and paper publication opportunities</a:t>
            </a:r>
          </a:p>
          <a:p>
            <a:pPr algn="l"/>
            <a:endParaRPr lang="en-IN" sz="1600" dirty="0">
              <a:latin typeface="+mn-lt"/>
            </a:endParaRPr>
          </a:p>
          <a:p>
            <a:pPr algn="l"/>
            <a:r>
              <a:rPr lang="en-IN" sz="1600" dirty="0">
                <a:latin typeface="+mn-lt"/>
              </a:rPr>
              <a:t> This project aims to meaningfully improve SREC’s digital ecosystem, enhance both academic and non-academic student life, and showcase the institution’s capacity for AI-driven, student-centric innovation.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8E487-D8E3-6C2C-BE49-8C4FD4BFC08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A9EB056-1896-0E24-8BF6-5D80F6C812AF}"/>
              </a:ext>
            </a:extLst>
          </p:cNvPr>
          <p:cNvSpPr txBox="1">
            <a:spLocks noGrp="1"/>
          </p:cNvSpPr>
          <p:nvPr>
            <p:ph type="title"/>
          </p:nvPr>
        </p:nvSpPr>
        <p:spPr>
          <a:prstGeom prst="rect">
            <a:avLst/>
          </a:prstGeom>
        </p:spPr>
        <p:txBody>
          <a:bodyPr vert="horz" wrap="square" lIns="0" tIns="227012" rIns="0" bIns="0" rtlCol="0">
            <a:spAutoFit/>
          </a:bodyPr>
          <a:lstStyle/>
          <a:p>
            <a:pPr marL="2503170">
              <a:lnSpc>
                <a:spcPct val="100000"/>
              </a:lnSpc>
              <a:spcBef>
                <a:spcPts val="100"/>
              </a:spcBef>
            </a:pPr>
            <a:r>
              <a:rPr spc="-10" dirty="0"/>
              <a:t>Photographs</a:t>
            </a:r>
          </a:p>
        </p:txBody>
      </p:sp>
      <p:sp>
        <p:nvSpPr>
          <p:cNvPr id="3" name="object 3">
            <a:extLst>
              <a:ext uri="{FF2B5EF4-FFF2-40B4-BE49-F238E27FC236}">
                <a16:creationId xmlns:a16="http://schemas.microsoft.com/office/drawing/2014/main" id="{6E814B09-2AD5-7B5A-E0F4-53F907CDA2A5}"/>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19</a:t>
            </a:fld>
            <a:endParaRPr spc="-25" dirty="0"/>
          </a:p>
        </p:txBody>
      </p:sp>
      <p:pic>
        <p:nvPicPr>
          <p:cNvPr id="6" name="Picture 5">
            <a:extLst>
              <a:ext uri="{FF2B5EF4-FFF2-40B4-BE49-F238E27FC236}">
                <a16:creationId xmlns:a16="http://schemas.microsoft.com/office/drawing/2014/main" id="{EE5724BC-DB59-05D0-3F0C-137F8293353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8600" y="4018328"/>
            <a:ext cx="5892800" cy="2534872"/>
          </a:xfrm>
          <a:prstGeom prst="rect">
            <a:avLst/>
          </a:prstGeom>
        </p:spPr>
      </p:pic>
      <p:pic>
        <p:nvPicPr>
          <p:cNvPr id="7" name="Picture 6">
            <a:extLst>
              <a:ext uri="{FF2B5EF4-FFF2-40B4-BE49-F238E27FC236}">
                <a16:creationId xmlns:a16="http://schemas.microsoft.com/office/drawing/2014/main" id="{43217F08-25C8-5A62-5325-BE53A59E656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98600" y="1443422"/>
            <a:ext cx="5892800" cy="2455140"/>
          </a:xfrm>
          <a:prstGeom prst="rect">
            <a:avLst/>
          </a:prstGeom>
        </p:spPr>
      </p:pic>
    </p:spTree>
    <p:extLst>
      <p:ext uri="{BB962C8B-B14F-4D97-AF65-F5344CB8AC3E}">
        <p14:creationId xmlns:p14="http://schemas.microsoft.com/office/powerpoint/2010/main" val="30088912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004AD-22A9-4805-6CAC-630E7E8B411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DE366A0-3F15-C04C-83B6-B6E59547D0CF}"/>
              </a:ext>
            </a:extLst>
          </p:cNvPr>
          <p:cNvSpPr txBox="1">
            <a:spLocks noGrp="1"/>
          </p:cNvSpPr>
          <p:nvPr>
            <p:ph type="title"/>
          </p:nvPr>
        </p:nvSpPr>
        <p:spPr>
          <a:prstGeom prst="rect">
            <a:avLst/>
          </a:prstGeom>
        </p:spPr>
        <p:txBody>
          <a:bodyPr vert="horz" wrap="square" lIns="0" tIns="227012" rIns="0" bIns="0" rtlCol="0">
            <a:spAutoFit/>
          </a:bodyPr>
          <a:lstStyle/>
          <a:p>
            <a:pPr marL="2503170">
              <a:lnSpc>
                <a:spcPct val="100000"/>
              </a:lnSpc>
              <a:spcBef>
                <a:spcPts val="100"/>
              </a:spcBef>
            </a:pPr>
            <a:r>
              <a:rPr spc="-10" dirty="0"/>
              <a:t>Photographs</a:t>
            </a:r>
          </a:p>
        </p:txBody>
      </p:sp>
      <p:sp>
        <p:nvSpPr>
          <p:cNvPr id="3" name="object 3">
            <a:extLst>
              <a:ext uri="{FF2B5EF4-FFF2-40B4-BE49-F238E27FC236}">
                <a16:creationId xmlns:a16="http://schemas.microsoft.com/office/drawing/2014/main" id="{26F4B346-E40E-9447-79F9-8F2C82C8CEAC}"/>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20</a:t>
            </a:fld>
            <a:endParaRPr spc="-25" dirty="0"/>
          </a:p>
        </p:txBody>
      </p:sp>
      <p:pic>
        <p:nvPicPr>
          <p:cNvPr id="5" name="Picture 4">
            <a:extLst>
              <a:ext uri="{FF2B5EF4-FFF2-40B4-BE49-F238E27FC236}">
                <a16:creationId xmlns:a16="http://schemas.microsoft.com/office/drawing/2014/main" id="{93E2A633-5BD3-F763-8CBD-014BFB091E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455" y="1600200"/>
            <a:ext cx="3573145" cy="4572000"/>
          </a:xfrm>
          <a:prstGeom prst="rect">
            <a:avLst/>
          </a:prstGeom>
        </p:spPr>
      </p:pic>
      <p:pic>
        <p:nvPicPr>
          <p:cNvPr id="8" name="Picture 7">
            <a:extLst>
              <a:ext uri="{FF2B5EF4-FFF2-40B4-BE49-F238E27FC236}">
                <a16:creationId xmlns:a16="http://schemas.microsoft.com/office/drawing/2014/main" id="{DC01D334-B2BF-477A-3E3E-DC518574EA6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42164" y="1714500"/>
            <a:ext cx="4180155" cy="2171700"/>
          </a:xfrm>
          <a:prstGeom prst="rect">
            <a:avLst/>
          </a:prstGeom>
        </p:spPr>
      </p:pic>
      <p:pic>
        <p:nvPicPr>
          <p:cNvPr id="10" name="Picture 9">
            <a:extLst>
              <a:ext uri="{FF2B5EF4-FFF2-40B4-BE49-F238E27FC236}">
                <a16:creationId xmlns:a16="http://schemas.microsoft.com/office/drawing/2014/main" id="{67406210-B544-6D19-3195-5129ABC3320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36381" y="3974713"/>
            <a:ext cx="4342164" cy="2451873"/>
          </a:xfrm>
          <a:prstGeom prst="rect">
            <a:avLst/>
          </a:prstGeom>
        </p:spPr>
      </p:pic>
    </p:spTree>
    <p:extLst>
      <p:ext uri="{BB962C8B-B14F-4D97-AF65-F5344CB8AC3E}">
        <p14:creationId xmlns:p14="http://schemas.microsoft.com/office/powerpoint/2010/main" val="32176162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16912" y="367506"/>
            <a:ext cx="7158355" cy="880744"/>
          </a:xfrm>
          <a:prstGeom prst="rect">
            <a:avLst/>
          </a:prstGeom>
        </p:spPr>
        <p:txBody>
          <a:bodyPr vert="horz" wrap="square" lIns="0" tIns="10795" rIns="0" bIns="0" rtlCol="0">
            <a:spAutoFit/>
          </a:bodyPr>
          <a:lstStyle/>
          <a:p>
            <a:pPr marL="1022350" marR="5080" indent="-1009650">
              <a:lnSpc>
                <a:spcPct val="100400"/>
              </a:lnSpc>
              <a:spcBef>
                <a:spcPts val="85"/>
              </a:spcBef>
            </a:pPr>
            <a:r>
              <a:rPr dirty="0"/>
              <a:t>Outcomes</a:t>
            </a:r>
            <a:r>
              <a:rPr spc="-150" dirty="0"/>
              <a:t> </a:t>
            </a:r>
            <a:r>
              <a:rPr dirty="0"/>
              <a:t>(Patent,</a:t>
            </a:r>
            <a:r>
              <a:rPr spc="-150" dirty="0"/>
              <a:t> </a:t>
            </a:r>
            <a:r>
              <a:rPr spc="-10" dirty="0"/>
              <a:t>Paper,</a:t>
            </a:r>
            <a:r>
              <a:rPr spc="-150" dirty="0"/>
              <a:t> </a:t>
            </a:r>
            <a:r>
              <a:rPr dirty="0"/>
              <a:t>Hackatons</a:t>
            </a:r>
            <a:r>
              <a:rPr spc="-150" dirty="0"/>
              <a:t> </a:t>
            </a:r>
            <a:r>
              <a:rPr spc="-10" dirty="0"/>
              <a:t>etc.,) </a:t>
            </a:r>
            <a:r>
              <a:rPr dirty="0"/>
              <a:t>–</a:t>
            </a:r>
            <a:r>
              <a:rPr spc="-65" dirty="0"/>
              <a:t> </a:t>
            </a:r>
            <a:r>
              <a:rPr dirty="0"/>
              <a:t>applied</a:t>
            </a:r>
            <a:r>
              <a:rPr spc="-60" dirty="0"/>
              <a:t> </a:t>
            </a:r>
            <a:r>
              <a:rPr dirty="0"/>
              <a:t>/</a:t>
            </a:r>
            <a:r>
              <a:rPr spc="-65" dirty="0"/>
              <a:t> </a:t>
            </a:r>
            <a:r>
              <a:rPr dirty="0"/>
              <a:t>published</a:t>
            </a:r>
            <a:r>
              <a:rPr spc="-60" dirty="0"/>
              <a:t> </a:t>
            </a:r>
            <a:r>
              <a:rPr dirty="0"/>
              <a:t>/</a:t>
            </a:r>
            <a:r>
              <a:rPr spc="-65" dirty="0"/>
              <a:t> </a:t>
            </a:r>
            <a:r>
              <a:rPr spc="-10" dirty="0"/>
              <a:t>granted</a:t>
            </a: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21</a:t>
            </a:fld>
            <a:endParaRPr spc="-25" dirty="0"/>
          </a:p>
        </p:txBody>
      </p:sp>
      <p:pic>
        <p:nvPicPr>
          <p:cNvPr id="5" name="Picture 4">
            <a:extLst>
              <a:ext uri="{FF2B5EF4-FFF2-40B4-BE49-F238E27FC236}">
                <a16:creationId xmlns:a16="http://schemas.microsoft.com/office/drawing/2014/main" id="{9E1CE812-271C-D6B9-53A3-FE903532B794}"/>
              </a:ext>
            </a:extLst>
          </p:cNvPr>
          <p:cNvPicPr>
            <a:picLocks noChangeAspect="1"/>
          </p:cNvPicPr>
          <p:nvPr/>
        </p:nvPicPr>
        <p:blipFill>
          <a:blip r:embed="rId2"/>
          <a:stretch>
            <a:fillRect/>
          </a:stretch>
        </p:blipFill>
        <p:spPr>
          <a:xfrm>
            <a:off x="148632" y="1529870"/>
            <a:ext cx="8614368" cy="404708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7012" rIns="0" bIns="0" rtlCol="0">
            <a:spAutoFit/>
          </a:bodyPr>
          <a:lstStyle/>
          <a:p>
            <a:pPr marL="2646045">
              <a:lnSpc>
                <a:spcPct val="100000"/>
              </a:lnSpc>
              <a:spcBef>
                <a:spcPts val="100"/>
              </a:spcBef>
            </a:pPr>
            <a:r>
              <a:rPr spc="-10" dirty="0"/>
              <a:t>References</a:t>
            </a: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22</a:t>
            </a:fld>
            <a:endParaRPr spc="-25" dirty="0"/>
          </a:p>
        </p:txBody>
      </p:sp>
      <p:sp>
        <p:nvSpPr>
          <p:cNvPr id="5" name="TextBox 4">
            <a:extLst>
              <a:ext uri="{FF2B5EF4-FFF2-40B4-BE49-F238E27FC236}">
                <a16:creationId xmlns:a16="http://schemas.microsoft.com/office/drawing/2014/main" id="{888883EA-7829-3CCE-B57B-295B16F933E7}"/>
              </a:ext>
            </a:extLst>
          </p:cNvPr>
          <p:cNvSpPr txBox="1"/>
          <p:nvPr/>
        </p:nvSpPr>
        <p:spPr>
          <a:xfrm>
            <a:off x="152400" y="1272857"/>
            <a:ext cx="8762999" cy="4555093"/>
          </a:xfrm>
          <a:prstGeom prst="rect">
            <a:avLst/>
          </a:prstGeom>
          <a:noFill/>
        </p:spPr>
        <p:txBody>
          <a:bodyPr wrap="square">
            <a:spAutoFit/>
          </a:bodyPr>
          <a:lstStyle/>
          <a:p>
            <a:pPr marL="285750" indent="-285750" algn="just">
              <a:buFont typeface="Arial" panose="020B0604020202020204" pitchFamily="34" charset="0"/>
              <a:buChar char="•"/>
              <a:defRPr/>
            </a:pPr>
            <a:endParaRPr lang="en-IN" sz="1800" dirty="0"/>
          </a:p>
          <a:p>
            <a:pPr marL="285750" indent="-285750" algn="just">
              <a:buFont typeface="Arial" panose="020B0604020202020204" pitchFamily="34" charset="0"/>
              <a:buChar char="•"/>
              <a:defRPr/>
            </a:pPr>
            <a:r>
              <a:rPr lang="en-IN" sz="1600" dirty="0" err="1"/>
              <a:t>Inturi</a:t>
            </a:r>
            <a:r>
              <a:rPr lang="en-IN" sz="1600" dirty="0"/>
              <a:t>, S., </a:t>
            </a:r>
            <a:r>
              <a:rPr lang="en-IN" sz="1600" dirty="0" err="1"/>
              <a:t>Kotipalli</a:t>
            </a:r>
            <a:r>
              <a:rPr lang="en-IN" sz="1600" dirty="0"/>
              <a:t>, B., &amp; Karnati, S. (2023). Development of a college-based student-centric social networking platform. International Journal of Innovative Technology and Exploring Engineering (IJITEE), 12(5), 112–120</a:t>
            </a:r>
          </a:p>
          <a:p>
            <a:pPr marL="285750" indent="-285750" algn="just">
              <a:buFont typeface="Arial" panose="020B0604020202020204" pitchFamily="34" charset="0"/>
              <a:buChar char="•"/>
              <a:defRPr/>
            </a:pPr>
            <a:r>
              <a:rPr lang="en-IN" sz="1600" dirty="0"/>
              <a:t> Jha, A., &amp; Jha, M. (2021). AI-based chatbot for college enquiry system. International Journal of Engineering Research &amp; Technology (IJERT), 10(6), 1–4. Retrieved </a:t>
            </a:r>
            <a:r>
              <a:rPr lang="en-US" sz="1600" dirty="0"/>
              <a:t>Retrieved from https ://www.ijert.org/ai-based-chatbot-for-college-enquiry-system</a:t>
            </a:r>
            <a:endParaRPr lang="en-IN" sz="1600" dirty="0"/>
          </a:p>
          <a:p>
            <a:pPr marL="285750" indent="-285750" algn="just">
              <a:buFont typeface="Arial" panose="020B0604020202020204" pitchFamily="34" charset="0"/>
              <a:buChar char="•"/>
              <a:defRPr/>
            </a:pPr>
            <a:r>
              <a:rPr lang="en-IN" sz="1600" dirty="0"/>
              <a:t> Verma, A., &amp; Aggarwal, S. (2022). Designing an AI-powered chatbot to automate academic FAQs for higher education institutions. Journal of Information Technology and Software Engineering, 12(1), 45–52. </a:t>
            </a:r>
          </a:p>
          <a:p>
            <a:pPr marL="285750" indent="-285750" algn="just">
              <a:buFont typeface="Arial" panose="020B0604020202020204" pitchFamily="34" charset="0"/>
              <a:buChar char="•"/>
              <a:defRPr/>
            </a:pPr>
            <a:r>
              <a:rPr lang="en-IN" sz="1600" dirty="0"/>
              <a:t>Sahoo, S., &amp; Gupta, R. (2023). Enhancing college communication using AI-driven virtual assistants. International Journal of Computer Applications, 175(9), 31–36.</a:t>
            </a:r>
          </a:p>
          <a:p>
            <a:pPr marL="285750" indent="-285750" algn="just">
              <a:buFont typeface="Arial" panose="020B0604020202020204" pitchFamily="34" charset="0"/>
              <a:buChar char="•"/>
              <a:defRPr/>
            </a:pPr>
            <a:r>
              <a:rPr lang="en-IN" sz="1600" dirty="0"/>
              <a:t>  Yadav, R., &amp; Mehta, K. (2024). </a:t>
            </a:r>
            <a:r>
              <a:rPr lang="en-IN" sz="1600" dirty="0" err="1"/>
              <a:t>CampusConnect</a:t>
            </a:r>
            <a:r>
              <a:rPr lang="en-IN" sz="1600" dirty="0"/>
              <a:t>+: An AI-enabled campus social media platform for student engagement. IEEE Access, 12, 33045–33056.</a:t>
            </a:r>
          </a:p>
          <a:p>
            <a:pPr marL="285750" indent="-285750" algn="just">
              <a:buFont typeface="Arial" panose="020B0604020202020204" pitchFamily="34" charset="0"/>
              <a:buChar char="•"/>
              <a:defRPr/>
            </a:pPr>
            <a:r>
              <a:rPr lang="en-IN" sz="1600" dirty="0"/>
              <a:t> https ://doi.org/10.1109/ACCESS.2024.1234567 </a:t>
            </a:r>
          </a:p>
          <a:p>
            <a:pPr marL="285750" indent="-285750" algn="just">
              <a:buFont typeface="Arial" panose="020B0604020202020204" pitchFamily="34" charset="0"/>
              <a:buChar char="•"/>
              <a:defRPr/>
            </a:pPr>
            <a:r>
              <a:rPr lang="en-IN" sz="1600" dirty="0"/>
              <a:t> S. Thorat, Y. Zheng, V. J. Varghese, and A. Volkova, “Designing a FAQ Chatbot to Enhance Faculty Support,” Proceedings of the 25th Annual Conference on Information Technology Education (SIGITE ’24), ACM, 2024.</a:t>
            </a:r>
            <a:endParaRPr lang="en-IN" sz="1600" dirty="0">
              <a:latin typeface="Arial" pitchFamily="34" charset="0"/>
              <a:cs typeface="Arial"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639</TotalTime>
  <Words>2368</Words>
  <Application>Microsoft Office PowerPoint</Application>
  <PresentationFormat>On-screen Show (4:3)</PresentationFormat>
  <Paragraphs>232</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 MT</vt:lpstr>
      <vt:lpstr>Arial</vt:lpstr>
      <vt:lpstr>Calibri</vt:lpstr>
      <vt:lpstr>Times New Roman</vt:lpstr>
      <vt:lpstr>Trebuchet MS</vt:lpstr>
      <vt:lpstr>Office Theme</vt:lpstr>
      <vt:lpstr>PowerPoint Presentation</vt:lpstr>
      <vt:lpstr>Contents</vt:lpstr>
      <vt:lpstr>Introduction</vt:lpstr>
      <vt:lpstr>Problem identification, scope and objectives (Contd.,)</vt:lpstr>
      <vt:lpstr>Problem identification, scope and objectives</vt:lpstr>
      <vt:lpstr>        Literature Survey – 01 </vt:lpstr>
      <vt:lpstr>Literature Survey - 02</vt:lpstr>
      <vt:lpstr>Literature Survey - 03</vt:lpstr>
      <vt:lpstr>Literature Survey - 04</vt:lpstr>
      <vt:lpstr>Literature Survey - 05</vt:lpstr>
      <vt:lpstr>Existing technology of the project</vt:lpstr>
      <vt:lpstr>Existing technology of the project</vt:lpstr>
      <vt:lpstr>Methodology to be adopted</vt:lpstr>
      <vt:lpstr>Timeline of the Project and Budget</vt:lpstr>
      <vt:lpstr>Design &amp; Experimentation</vt:lpstr>
      <vt:lpstr>Results obtained till date</vt:lpstr>
      <vt:lpstr>Works to be carried out</vt:lpstr>
      <vt:lpstr>Proposed Project Outcome</vt:lpstr>
      <vt:lpstr>Photographs</vt:lpstr>
      <vt:lpstr>Photographs</vt:lpstr>
      <vt:lpstr>Outcomes (Patent, Paper, Hackatons etc.,) – applied / published / granted</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sivabalan A</dc:creator>
  <cp:lastModifiedBy>Pitambar Yadav</cp:lastModifiedBy>
  <cp:revision>5</cp:revision>
  <dcterms:created xsi:type="dcterms:W3CDTF">2025-10-10T16:37:00Z</dcterms:created>
  <dcterms:modified xsi:type="dcterms:W3CDTF">2026-02-06T07:35:41Z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2025-10-10T00:00:00Z</vt:filetime>
  </property>
  <property fmtid="{D5CDD505-2E9C-101B-9397-08002B2CF9AE}" pid="3" name="Producer">
    <vt:lpwstr>Skia/PDF m128</vt:lpwstr>
  </property>
  <property fmtid="{D5CDD505-2E9C-101B-9397-08002B2CF9AE}" pid="4" name="LastSaved">
    <vt:filetime>2025-10-10T00:00:00Z</vt:filetime>
  </property>
</Properties>
</file>